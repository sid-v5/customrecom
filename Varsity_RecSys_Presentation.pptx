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C2410C"/>
                </a:solidFill>
                <a:latin typeface="Calibri"/>
              </a:defRPr>
            </a:pPr>
            <a:r>
              <a:t>RECOMMENDER SYSTEMS • FINAL PROJECT CAPSTONE</a:t>
            </a:r>
          </a:p>
          <a:p>
            <a:pPr>
              <a:spcAft>
                <a:spcPts val="800"/>
              </a:spcAft>
              <a:defRPr sz="3600" b="1">
                <a:solidFill>
                  <a:srgbClr val="18181B"/>
                </a:solidFill>
                <a:latin typeface="Calibri"/>
              </a:defRPr>
            </a:pPr>
            <a:r>
              <a:t>Varsity: Campus Social Recommender</a:t>
            </a:r>
          </a:p>
          <a:p>
            <a:pPr>
              <a:defRPr sz="1500">
                <a:solidFill>
                  <a:srgbClr val="3F3F46"/>
                </a:solidFill>
                <a:latin typeface="Calibri"/>
              </a:defRPr>
            </a:pPr>
            <a:r>
              <a:t>A Production-Grade Multi-Stage Hybrid RecSys Architecture Inspired by Industrial Social Feeds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5669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3200400"/>
            <a:ext cx="51937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⚡ Cascaded Multi-Stage Pipeline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Sub-5ms Sourcing (350 Candidates) → 12-Dim Hydration → Calibrated Heavy Ranker → MMR Diversity.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669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389120"/>
            <a:ext cx="51937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👥 Scale-Free Campus Follow Graph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400 Students, 3,500 Posts, Barabási-Albert scale-free network, and 22,000+ multimodal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5669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5577840"/>
            <a:ext cx="51937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🎯 Rigorous Hybrid RecSys Coverage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Implicit iALS, Pearson User-kNN, TF-IDF Centroid profiles, and Cold-Start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777240"/>
            <a:ext cx="475488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4848" y="886968"/>
            <a:ext cx="4535424" cy="515721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arsity_refine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30897"/>
            <a:ext cx="4462272" cy="24693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606247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Varsity Live Prototype: Clean authentic social feed with personalized candidate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PIPELINED &amp; HYBRID ARCHITECTURES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System Architecture: The Multi-Stage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21396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Calibri"/>
              </a:defRPr>
            </a:pPr>
            <a:r>
              <a:t>01 • SUB-5MS SOURCING</a:t>
            </a:r>
          </a:p>
          <a:p>
            <a:pPr>
              <a:spcAft>
                <a:spcPts val="200"/>
              </a:spcAft>
              <a:defRPr sz="1500" b="1">
                <a:solidFill>
                  <a:srgbClr val="18181B"/>
                </a:solidFill>
                <a:latin typeface="Calibri"/>
              </a:defRPr>
            </a:pPr>
            <a:r>
              <a:t>Candidate Retrieval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3,500 → 350 Posts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In-Network Follow Walk (150)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iALS Factor Match (100)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Two-Tower Neural CF (100)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Content TF-IDF (50)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73552" y="251460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47872" y="1554480"/>
            <a:ext cx="24688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4" y="1691640"/>
            <a:ext cx="21396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Calibri"/>
              </a:defRPr>
            </a:pPr>
            <a:r>
              <a:t>02 • FEATURE EXTRACTION</a:t>
            </a:r>
          </a:p>
          <a:p>
            <a:pPr>
              <a:spcAft>
                <a:spcPts val="200"/>
              </a:spcAft>
              <a:defRPr sz="1500" b="1">
                <a:solidFill>
                  <a:srgbClr val="18181B"/>
                </a:solidFill>
                <a:latin typeface="Calibri"/>
              </a:defRPr>
            </a:pPr>
            <a:r>
              <a:t>Feature Hydration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350 Candidates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Author follower count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Graph distance (hops)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TF-IDF topic overlap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Real-time recency (Δt)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9904" y="251460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4224" y="1554480"/>
            <a:ext cx="24688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91640"/>
            <a:ext cx="21396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Calibri"/>
              </a:defRPr>
            </a:pPr>
            <a:r>
              <a:t>03 • META-CLASSIFIER</a:t>
            </a:r>
          </a:p>
          <a:p>
            <a:pPr>
              <a:spcAft>
                <a:spcPts val="200"/>
              </a:spcAft>
              <a:defRPr sz="1500" b="1">
                <a:solidFill>
                  <a:srgbClr val="18181B"/>
                </a:solidFill>
                <a:latin typeface="Calibri"/>
              </a:defRPr>
            </a:pPr>
            <a:r>
              <a:t>Heavy Ranker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Scored &amp; Calibrated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Calibrated P(Like)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Calibrated P(Reply)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Penalty for P(Skip)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Exp age decay: e^(-λ·Δt)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06256" y="251460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0576" y="1554480"/>
            <a:ext cx="24688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1691640"/>
            <a:ext cx="21396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Calibri"/>
              </a:defRPr>
            </a:pPr>
            <a:r>
              <a:t>04 • FINAL DELIVERY</a:t>
            </a:r>
          </a:p>
          <a:p>
            <a:pPr>
              <a:spcAft>
                <a:spcPts val="200"/>
              </a:spcAft>
              <a:defRPr sz="1500" b="1">
                <a:solidFill>
                  <a:srgbClr val="18181B"/>
                </a:solidFill>
                <a:latin typeface="Calibri"/>
              </a:defRPr>
            </a:pPr>
            <a:r>
              <a:t>MMR Diversity &amp; Mixer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Top 15 Live Feed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MMR Greedy Re-ranking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λ=0.70 Diversity tradeoff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Author exposure cap (≤2)</a:t>
            </a:r>
          </a:p>
          <a:p>
            <a:pPr>
              <a:spcAft>
                <a:spcPts val="200"/>
              </a:spcAft>
              <a:defRPr sz="1150">
                <a:solidFill>
                  <a:srgbClr val="3F3F46"/>
                </a:solidFill>
                <a:latin typeface="Calibri"/>
              </a:defRPr>
            </a:pPr>
            <a:r>
              <a:t>• In/Out-network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251960"/>
            <a:ext cx="473659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Why Industry Uses Cascaded Multi-Stage Systems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The fundamental computational tradeoff in modern social feeds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Scale Bottleneck: Complex neural rankers cannot evaluate 3,500+ items within 50ms web latency limits.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Candidate Funnel: Fast candidate retrieval extracts 350 viable candidates in &lt;5ms.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Heavy Ranker Focus: Rich 12-dimensional logistic regression evaluates only top 350 candidates.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Diversity Mixer: Enforces author exposure caps (≤2) and balances in/out network discovery.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690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4178808"/>
            <a:ext cx="4992624" cy="186537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arsity_refine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632" y="4215384"/>
            <a:ext cx="3238654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606247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Live Funnel in Prototype: 3,500 Corpus → 350 Sourced → Filtered → Top 15 Feed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IMPLICIT VS. EXPLICIT FEEDBACK &amp; CONFIDENCE MODELS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User Feedback: Modeling Implicit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482803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The Social Recommender Reality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Why social feeds generate over 99% implicit feedback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Explicit Rating Scarcity: Students rarely submit 1-to-5 star ratings; real social interactions occur via organic scrolls, likes, and replies.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Zero As Missing, Not Dislike: An unread campus post is never a negative dislike; the user simply hasn't scrolled past it yet.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Negative Dwell Sampling: Viewport dwell time &lt; 1.5 seconds is logged as an implicit skip to penalize clickbait.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343400"/>
            <a:ext cx="482803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C2410C"/>
                </a:solidFill>
                <a:latin typeface="Calibri"/>
              </a:defRPr>
            </a:pPr>
            <a:r>
              <a:t>Confidence-Weighted Matrix Formulation (Hu et al.)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C_ui = 1 + α · r_ui    (Confidence parameter α = 40)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Engaged Post (Like / Reply): C_ui = 41 (High certainty parameter update).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Unobserved Post (Baseline): C_ui = 1 (Low certainty baseline expectation).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Action Weights: Like (+1.0), Reply (+2.0), Bookmark (+1.5), Skip (-0.5).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Evaluation: Explicit 1-5 holdout ratings evaluate offline RMSE (1.3726).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088" y="1709928"/>
            <a:ext cx="4901184" cy="186537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post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932439"/>
            <a:ext cx="4828032" cy="14203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59359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Prototype Zoom: Multi-action interaction bar (Like, Reply, Bookmark, Skip)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605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4343400"/>
            <a:ext cx="464515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Multimodal Feedback in Action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Real-time conversion from student UI actions to model matrices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Viewport Dwell Tracker: Measures active dwell seconds per post card.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Real-Time Matrix Update: Clicking ❤️ or 💬 immediately updates user vectors.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Skip Penalty (✕): Immediately fades post and penalizes predicted P(Skip).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SIMILARITY MEASURES &amp; MEMORY-BASED METHODS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Similarity Metrics: Pearson Correlation vs. Cosine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482803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Cosine Similarity (Angle Alignment)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Cos(u, v) = (u · v) / (||u|| · ||v||)  •  Used in Content Matching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Non-Negative Term Space: TF-IDF word frequencies and hashtags are strictly ≥ 0, making the cosine angle optimal for semantic text similarity.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Length Invariant: Normalizes for length differences so a long departmental notice can match a brief student tweet.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297680"/>
            <a:ext cx="482803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C2410C"/>
                </a:solidFill>
                <a:latin typeface="Calibri"/>
              </a:defRPr>
            </a:pPr>
            <a:r>
              <a:t>Pearson Correlation (Mean-Centered De-Biasing)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Pearson(u, v) = Σ (r_ui - r̄_u)(r_vi - r̄_v) / Norm  •  Used in User-kNN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Eliminates User Bias: Subtracting student mean rating (r̄_u) eliminates distortions between generous likers and strict lurkers.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Significance Weighting: Shrinkage factor min(|I_uv|, 5) / 5 prevents spurious 1.0 correlations when two students share only 1 common 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088" y="1709928"/>
            <a:ext cx="4901184" cy="186537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similarit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043" y="1746504"/>
            <a:ext cx="4655273" cy="1792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59359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Live Explainer: Real-time similarity scores computed per candidate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4297680"/>
            <a:ext cx="464515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Candidate Affinity Deconstruction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How Varsity combines diverse similarity perspectives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Social Network Affinity (43.1%): Shortest-path distance in campus follow graph.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iALS Latent Match (34.5%): Dot product of 32-dim latent factor vectors.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Topic Alignment (8.6%): Cosine match against student TF-IDF centroid vector.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Multi-Perspective Ranking: Full transparency with zero opacity.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MATRIX FACTORIZATION, SVD &amp; LATENT FACTORS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Model-Based RecSys: Latent Factors &amp; 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28216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C2410C"/>
                </a:solidFill>
                <a:latin typeface="Calibri"/>
              </a:defRPr>
            </a:pPr>
            <a:r>
              <a:t>98.7%</a:t>
            </a:r>
          </a:p>
          <a:p>
            <a:pPr>
              <a:defRPr sz="1250" b="1">
                <a:solidFill>
                  <a:srgbClr val="18181B"/>
                </a:solidFill>
                <a:latin typeface="Calibri"/>
              </a:defRPr>
            </a:pPr>
            <a:r>
              <a:t>Matrix Sparsity</a:t>
            </a:r>
          </a:p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400 x 3,500 = 1.4M cells (22k ratings)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002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28216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E3A5F"/>
                </a:solidFill>
                <a:latin typeface="Calibri"/>
              </a:defRPr>
            </a:pPr>
            <a:r>
              <a:t>32 Dims</a:t>
            </a:r>
          </a:p>
          <a:p>
            <a:pPr>
              <a:defRPr sz="1250" b="1">
                <a:solidFill>
                  <a:srgbClr val="18181B"/>
                </a:solidFill>
                <a:latin typeface="Calibri"/>
              </a:defRPr>
            </a:pPr>
            <a:r>
              <a:t>Latent Factor Space</a:t>
            </a:r>
          </a:p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Learns topics (hackathons, research, clubs)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0020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2821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D9488"/>
                </a:solidFill>
                <a:latin typeface="Calibri"/>
              </a:defRPr>
            </a:pPr>
            <a:r>
              <a:t>O(1)</a:t>
            </a:r>
          </a:p>
          <a:p>
            <a:pPr>
              <a:defRPr sz="1250" b="1">
                <a:solidFill>
                  <a:srgbClr val="18181B"/>
                </a:solidFill>
                <a:latin typeface="Calibri"/>
              </a:defRPr>
            </a:pPr>
            <a:r>
              <a:t>Inference Complexity</a:t>
            </a:r>
          </a:p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Dot product between precomputed user &amp; item vectors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486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108960"/>
            <a:ext cx="501091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Why Standard SVD Fails on Social Feeds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The missing-value trap in sparse implicit matrices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Zero-Rating Bias: Truncated SVD treats missing entries as zeros (dislikes), unfairly penalizing unexposed announcements.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Extreme Sparsity: Memory k-NN fails under 98.7% sparsity; latent embeddings generalize across zero co-ratings.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486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937760"/>
            <a:ext cx="501091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C2410C"/>
                </a:solidFill>
                <a:latin typeface="Calibri"/>
              </a:defRPr>
            </a:pPr>
            <a:r>
              <a:t>Alternating Least Squares (iALS) Solution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x_u = (Y^T C^u Y + λ I)^(-1) Y^T C^u p_u  (L2 regularization λ = 0.05)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Closed-Form Update: Alternates between fixing item vectors Y to solve user vectors x_u, and vice-versa, with confidence C_ui.</a:t>
            </a:r>
          </a:p>
          <a:p>
            <a:pPr>
              <a:spcAft>
                <a:spcPts val="350"/>
              </a:spcAft>
              <a:defRPr sz="1250">
                <a:solidFill>
                  <a:srgbClr val="3F3F46"/>
                </a:solidFill>
                <a:latin typeface="Calibri"/>
              </a:defRPr>
            </a:pPr>
            <a:r>
              <a:t>• Scalable Latent Retrieval: Yields 32-dim dense embeddings for instant retrieval.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926080"/>
            <a:ext cx="49377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01968" y="3035808"/>
            <a:ext cx="4718304" cy="300837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hy_this_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60" y="3072384"/>
            <a:ext cx="4574518" cy="29352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606247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Prototype Callout: iALS latent match contributing 34.5% to candidate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ITEM PROFILES, TF-IDF &amp; SWITCHING HYBRIDS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Solving Cold-Start: The Switching Hybrid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9260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46504"/>
            <a:ext cx="2651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3A5F"/>
                </a:solidFill>
                <a:latin typeface="Calibri"/>
              </a:defRPr>
            </a:pPr>
            <a:r>
              <a:t>1. INCOMING STUDENT REQUEST</a:t>
            </a:r>
          </a:p>
          <a:p>
            <a:pPr>
              <a:spcAft>
                <a:spcPts val="400"/>
              </a:spcAft>
              <a:defRPr sz="1500" b="1">
                <a:solidFill>
                  <a:srgbClr val="18181B"/>
                </a:solidFill>
                <a:latin typeface="Calibri"/>
              </a:defRPr>
            </a:pPr>
            <a:r>
              <a:t>Evaluate User History</a:t>
            </a:r>
          </a:p>
          <a:p>
            <a:pPr>
              <a:defRPr sz="1200">
                <a:solidFill>
                  <a:srgbClr val="71717A"/>
                </a:solidFill>
                <a:latin typeface="Calibri"/>
              </a:defRPr>
            </a:pPr>
            <a:r>
              <a:t>Count recorded likes, replies &amp; bookmarks: |H_u|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94760" y="2286000"/>
            <a:ext cx="320040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200400" cy="1645920"/>
          </a:xfrm>
          <a:prstGeom prst="roundRect">
            <a:avLst/>
          </a:prstGeom>
          <a:solidFill>
            <a:srgbClr val="F5F5F4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46504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2. DYNAMIC ROUTING THRESHOLD</a:t>
            </a:r>
          </a:p>
          <a:p>
            <a:pPr>
              <a:spcAft>
                <a:spcPts val="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Is Interactions |H_u| &lt; 3?</a:t>
            </a:r>
          </a:p>
          <a:p>
            <a:pPr>
              <a:defRPr sz="1200">
                <a:solidFill>
                  <a:srgbClr val="3F3F46"/>
                </a:solidFill>
                <a:latin typeface="Calibri"/>
              </a:defRPr>
            </a:pPr>
            <a:r>
              <a:t>• YES → Route to Knowledge Content Switch</a:t>
            </a:r>
            <a:br/>
            <a:r>
              <a:t>• NO  → Route to Collaborative iALS Models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89520" y="2286000"/>
            <a:ext cx="320040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46504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3. PROVEN BENCHMARK IMPACT</a:t>
            </a:r>
          </a:p>
          <a:p>
            <a:pPr>
              <a:spcAft>
                <a:spcPts val="4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+61.6x Cold-Start NDCG Boost!</a:t>
            </a:r>
          </a:p>
          <a:p>
            <a:pPr>
              <a:defRPr sz="1200">
                <a:solidFill>
                  <a:srgbClr val="3F3F46"/>
                </a:solidFill>
                <a:latin typeface="Calibri"/>
              </a:defRPr>
            </a:pPr>
            <a:r>
              <a:t>Cold NDCG@10 leaps from 0.0109 (pure CF) to 0.6719 with Content Switching!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4919472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How Content-Based Filtering Solves the Dilemma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Leveraging semantic campus metadata before collaborative history exists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The Cold-Start Dilemma: Collaborative models output zero when a new freshman registers with no prior ratings.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5,000 N-Gram TF-IDF: Extracts semantic features from post text, department names, and campus hashtags (#midterm, #hackathon).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Dynamic Centroid &amp; Transition: Student profile tracks running centroid; automatically switches to iALS at ≥3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20440"/>
            <a:ext cx="50292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0528" y="3630168"/>
            <a:ext cx="4809744" cy="236829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sona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818" y="3666744"/>
            <a:ext cx="2871162" cy="2295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601675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Persona Modal: Switching between Warm Alice (CS Undergrad) &amp; Cold Charlie (Freshman)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CLASSIFICATION ALGORITHMS &amp; FEATURE COMBINATION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Heavy Ranker: Calibrated Probabilities &amp; Age Decay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491947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Multi-Action Engagement Classifiers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12-Dimensional feature representation evaluated via Logistic Regression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12 Hydrated Features: Follower counts, graph hop distance, tag overlap, iALS score, recency.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Calibrated P(Like) &amp; P(Reply): Predicts positive engagement probabilities (w_like = 0.60, w_reply = 1.20).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Calibrated P(Skip): Predicts probability student ignores post (w_skip = 0.40 penalty).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251960"/>
            <a:ext cx="491947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C2410C"/>
                </a:solidFill>
                <a:latin typeface="Calibri"/>
              </a:defRPr>
            </a:pPr>
            <a:r>
              <a:t>Expected Utility Scoring Formula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Score = [w_like·P(Like) + w_reply·P(Reply) - w_skip·P(Skip)] · e^(-λ_age·Δt)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Discussion Priority: High reply weight (+1.20) fosters discussion; skip penalty (-0.40) suppresses clickbait.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Exponential Recency Decay: Exp(-0.02 · Δt) half-life penalty ensures fresh announcements outrank stale posts.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Interactive Control: Weights can be tuned live in the Sliders drawer.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0292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709928"/>
            <a:ext cx="4809744" cy="181965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heavy_ranker_pr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80373"/>
            <a:ext cx="4736592" cy="12787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354787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Heavy Ranker Output: P(Like)=40%, P(Reply)=16%, P(Skip)=60% -&gt; Score: 0.1367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69080"/>
            <a:ext cx="5029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4251960"/>
            <a:ext cx="455371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Verified Live Calculation Proof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Exact arithmetic match to the prototype screenshot above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Raw Engagement Utility: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(0.60 · 0.40) + (1.20 · 0.16) - (0.40 · 0.60) = 0.192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Elapsed Hours: Δt = 15 hours elapsed since creation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Recency Factor: exp(-0.02 · 15) = 0.7408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Final Utility Score: 0.192 · 0.7118 = 0.1367 (Exact Match!)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INTRA-LIST DIVERSITY &amp; RE-RANKING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Diversity vs. Accuracy: Maximal Marginal Relevance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491947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Breaking Campus Filter Bubbles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Trading marginal relevance for broad catalog discovery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Echo Chamber Risk: A ranker optimized purely for P(Like) floods the feed with 10 duplicate posts on one topic.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Intra-List Diversity (ILD): Measures pairwise distance between recommended items to guarantee topical variety.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251960"/>
            <a:ext cx="491947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C2410C"/>
                </a:solidFill>
                <a:latin typeface="Calibri"/>
              </a:defRPr>
            </a:pPr>
            <a:r>
              <a:t>Maximal Marginal Relevance (MMR) Formulation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argmax [ λ · Sim1(d_i, u) - (1 - λ) · max Sim2(d_i, d_j) ]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Tunable Tradeoff: Slider blends relevance (λ=1.0) and catalog novelty (λ=0.0).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Empirical Ablation: At λ=0.70, ILD diversity jumps to 0.9616 (+5.1% catalog variety) with zero loss in Top-10 precision!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709928"/>
            <a:ext cx="4809744" cy="433425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drawer_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350" y="1746504"/>
            <a:ext cx="3108099" cy="4261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606247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Control Drawer: Interactive MMR Diversity Lambda slider and author cap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ERROR, DECISION SUPPORT &amp; USER-CENTERED METRICS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Empirical Evaluation: 8 Models &amp; 6 Ablations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491947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E3A5F"/>
                </a:solidFill>
                <a:latin typeface="Calibri"/>
              </a:defRPr>
            </a:pPr>
            <a:r>
              <a:t>Comprehensive Evaluation Framework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Offline benchmarking across 8 models on 80/20 temporal splits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Rating Accuracy: RMSE = 1.3726 (User-kNN) on 1-to-5 star explicit holdout.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NDCG@10 (0.0186): Top ranking quality against ground-truth user engagement.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Coverage (10.0%) &amp; ILD (0.9599): Prevents popularity monopoly and guarantees variety across student communities.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434840"/>
            <a:ext cx="49194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C2410C"/>
                </a:solidFill>
                <a:latin typeface="Calibri"/>
              </a:defRPr>
            </a:pPr>
            <a:r>
              <a:t>Key Empirical Takeaways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Why the multi-stage hybrid dominates individual baselines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Varsity Hybrid Wins: Achieves top NDCG@10 (0.0186), beating iALS (0.0139) and k-NN (0.0109).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Cold-Start Leaps: Switching hybrid boosts cold student NDCG by +61.6x (0.0109 → 0.6719).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Diversity Gain: MMR achieves 0.9599 diversity with zero precision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709928"/>
            <a:ext cx="4809744" cy="433425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nchmark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350" y="1746504"/>
            <a:ext cx="3108099" cy="4261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606247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1717A"/>
                </a:solidFill>
                <a:latin typeface="Calibri"/>
              </a:defRPr>
            </a:pPr>
            <a:r>
              <a:t>Evaluation Matrix: Benchmarks across Random, Popularity, k-NN, iALS, and Hybrid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Calibri"/>
              </a:defRPr>
            </a:pPr>
            <a:r>
              <a:t>SYSTEM ARCHITECTURE, COLLABORATIVE FILTERING &amp; BOTNET DEFENSE</a:t>
            </a:r>
          </a:p>
          <a:p>
            <a:pPr>
              <a:defRPr sz="2800" b="1">
                <a:solidFill>
                  <a:srgbClr val="18181B"/>
                </a:solidFill>
                <a:latin typeface="Calibri"/>
              </a:defRPr>
            </a:pPr>
            <a:r>
              <a:t>Project References &amp; Applied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10253167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1E3A5F"/>
                </a:solidFill>
                <a:latin typeface="Calibri"/>
              </a:defRPr>
            </a:pPr>
            <a:r>
              <a:t>1. X Corp. / Twitter Open Source (2023)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'The Algorithm: Recommendation Pipeline Architecture', GitHub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Architectural Blueprint for Varsity's 4-Stage Feed Pipeline: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Sourcing: Sub-5ms parallel retrieval across graph walks, iALS, and neural candidates.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Ranking &amp; Delivery: 12-dimensional feature hydration, multi-action scoring, and MMR diversity mixing.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383280"/>
            <a:ext cx="10253167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C2410C"/>
                </a:solidFill>
                <a:latin typeface="Calibri"/>
              </a:defRPr>
            </a:pPr>
            <a:r>
              <a:t>2. Sarwar, Karypis, Konstan, Riedl (2001)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'Item-Based Collaborative Filtering Recommendation Algorithms', ACM WWW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Foundations for Post-to-Post Similarity &amp; De-Biasing: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Item-kNN co-occurrence scoring and cosine similarity across interaction vectors.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Pearson correlation mean-centering to eliminate individual student rating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983480"/>
            <a:ext cx="10253167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1E3A5F"/>
                </a:solidFill>
                <a:latin typeface="Calibri"/>
              </a:defRPr>
            </a:pPr>
            <a:r>
              <a:t>3. Mobasher, Burke, Bhaumik, Williams (2007)</a:t>
            </a:r>
          </a:p>
          <a:p>
            <a:pPr>
              <a:spcAft>
                <a:spcPts val="4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'Toward Trustworthy Recommender Systems: Analysis of Shilling Attacks', ACM TIST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• Security Blueprint for Varsity's Botnet Attack Sandbox &amp; Anomaly Detection: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Models realistic attack profiles: Random noise injection and Bandwagon target promotion.</a:t>
            </a:r>
          </a:p>
          <a:p>
            <a:pPr>
              <a:spcAft>
                <a:spcPts val="350"/>
              </a:spcAft>
              <a:defRPr sz="1300">
                <a:solidFill>
                  <a:srgbClr val="3F3F46"/>
                </a:solidFill>
                <a:latin typeface="Calibri"/>
              </a:defRPr>
            </a:pPr>
            <a:r>
              <a:t>   - Unsupervised Jaccard graph overlap filter to flag and isolate coordinated sybil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