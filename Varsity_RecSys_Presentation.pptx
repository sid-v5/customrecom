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59436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C2410C"/>
                </a:solidFill>
                <a:latin typeface="Calibri"/>
              </a:defRPr>
            </a:pPr>
            <a:r>
              <a:t>RECOMMENDER SYSTEMS • FINAL PROJECT CAPSTONE</a:t>
            </a:r>
          </a:p>
          <a:p>
            <a:pPr>
              <a:spcAft>
                <a:spcPts val="800"/>
              </a:spcAft>
              <a:defRPr sz="3600" b="1">
                <a:solidFill>
                  <a:srgbClr val="18181B"/>
                </a:solidFill>
                <a:latin typeface="Calibri"/>
              </a:defRPr>
            </a:pPr>
            <a:r>
              <a:t>Varsity: Campus Social Recommender</a:t>
            </a:r>
          </a:p>
          <a:p>
            <a:pPr>
              <a:defRPr sz="1500">
                <a:solidFill>
                  <a:srgbClr val="3F3F46"/>
                </a:solidFill>
                <a:latin typeface="Calibri"/>
              </a:defRPr>
            </a:pPr>
            <a:r>
              <a:t>A Production-Grade Multi-Stage Hybrid RecSys Architecture Inspired by Industrial Social Feeds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017520"/>
            <a:ext cx="56692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3200400"/>
            <a:ext cx="5193792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1E3A5F"/>
                </a:solidFill>
                <a:latin typeface="Calibri"/>
              </a:defRPr>
            </a:pPr>
            <a:r>
              <a:t>⚡ Cascaded Multi-Stage Pipeline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Sub-5ms Sourcing (350 Candidates) → 12-Dim Hydration → Calibrated Heavy Ranker → MMR Diversity.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06240"/>
            <a:ext cx="56692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4389120"/>
            <a:ext cx="5193792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1E3A5F"/>
                </a:solidFill>
                <a:latin typeface="Calibri"/>
              </a:defRPr>
            </a:pPr>
            <a:r>
              <a:t>👥 Scale-Free Campus Follow Graph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400 Students, 3,500 Posts, Barabási-Albert scale-free network, and 22,000+ multimodal interactions.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94960"/>
            <a:ext cx="56692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5577840"/>
            <a:ext cx="5193792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1E3A5F"/>
                </a:solidFill>
                <a:latin typeface="Calibri"/>
              </a:defRPr>
            </a:pPr>
            <a:r>
              <a:t>🎯 Rigorous Hybrid RecSys Coverage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Implicit iALS, Pearson User-kNN, TF-IDF Centroid profiles, and Cold-Start routing.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777240"/>
            <a:ext cx="4754880" cy="5669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84848" y="886968"/>
            <a:ext cx="4535424" cy="5157216"/>
          </a:xfrm>
          <a:prstGeom prst="roundRect">
            <a:avLst/>
          </a:prstGeom>
          <a:solidFill>
            <a:srgbClr val="0A0A0C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arsity_refined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424" y="2230897"/>
            <a:ext cx="4462272" cy="24693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0" y="6062472"/>
            <a:ext cx="43891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71717A"/>
                </a:solidFill>
                <a:latin typeface="Calibri"/>
              </a:defRPr>
            </a:pPr>
            <a:r>
              <a:t>Varsity Live Prototype: Clean authentic social feed with personalized candidate scoring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2410C"/>
                </a:solidFill>
                <a:latin typeface="Calibri"/>
              </a:defRPr>
            </a:pPr>
            <a:r>
              <a:t>PIPELINED &amp; HYBRID ARCHITECTURES</a:t>
            </a:r>
          </a:p>
          <a:p>
            <a:pPr>
              <a:defRPr sz="2800" b="1">
                <a:solidFill>
                  <a:srgbClr val="18181B"/>
                </a:solidFill>
                <a:latin typeface="Calibri"/>
              </a:defRPr>
            </a:pPr>
            <a:r>
              <a:t>System Architecture: The Multi-Stage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24688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691640"/>
            <a:ext cx="2139696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C2410C"/>
                </a:solidFill>
                <a:latin typeface="Calibri"/>
              </a:defRPr>
            </a:pPr>
            <a:r>
              <a:t>01 • SUB-5MS SOURCING</a:t>
            </a:r>
          </a:p>
          <a:p>
            <a:pPr>
              <a:spcAft>
                <a:spcPts val="200"/>
              </a:spcAft>
              <a:defRPr sz="1500" b="1">
                <a:solidFill>
                  <a:srgbClr val="18181B"/>
                </a:solidFill>
                <a:latin typeface="Calibri"/>
              </a:defRPr>
            </a:pPr>
            <a:r>
              <a:t>Candidate Retrieval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3,500 → 350 Posts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In-Network Follow Walk (150)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iALS Factor Match (100)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Two-Tower Neural CF (100)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Content TF-IDF (50)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73552" y="2514600"/>
            <a:ext cx="201168" cy="274320"/>
          </a:xfrm>
          <a:prstGeom prst="rightArrow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47872" y="1554480"/>
            <a:ext cx="24688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12464" y="1691640"/>
            <a:ext cx="2139696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C2410C"/>
                </a:solidFill>
                <a:latin typeface="Calibri"/>
              </a:defRPr>
            </a:pPr>
            <a:r>
              <a:t>02 • FEATURE EXTRACTION</a:t>
            </a:r>
          </a:p>
          <a:p>
            <a:pPr>
              <a:spcAft>
                <a:spcPts val="200"/>
              </a:spcAft>
              <a:defRPr sz="1500" b="1">
                <a:solidFill>
                  <a:srgbClr val="18181B"/>
                </a:solidFill>
                <a:latin typeface="Calibri"/>
              </a:defRPr>
            </a:pPr>
            <a:r>
              <a:t>Feature Hydration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350 Candidates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Author follower count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Graph distance (hops)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TF-IDF topic overlap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Real-time recency (Δt)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89904" y="2514600"/>
            <a:ext cx="201168" cy="274320"/>
          </a:xfrm>
          <a:prstGeom prst="rightArrow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64224" y="1554480"/>
            <a:ext cx="24688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691640"/>
            <a:ext cx="2139696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C2410C"/>
                </a:solidFill>
                <a:latin typeface="Calibri"/>
              </a:defRPr>
            </a:pPr>
            <a:r>
              <a:t>03 • META-CLASSIFIER</a:t>
            </a:r>
          </a:p>
          <a:p>
            <a:pPr>
              <a:spcAft>
                <a:spcPts val="200"/>
              </a:spcAft>
              <a:defRPr sz="1500" b="1">
                <a:solidFill>
                  <a:srgbClr val="18181B"/>
                </a:solidFill>
                <a:latin typeface="Calibri"/>
              </a:defRPr>
            </a:pPr>
            <a:r>
              <a:t>Heavy Ranker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Scored &amp; Calibrated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Calibrated P(Like)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Calibrated P(Reply)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Penalty for P(Skip)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Exp age decay: e^(-λ·Δt)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906256" y="2514600"/>
            <a:ext cx="201168" cy="274320"/>
          </a:xfrm>
          <a:prstGeom prst="rightArrow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0576" y="1554480"/>
            <a:ext cx="24688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45168" y="1691640"/>
            <a:ext cx="2139696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C2410C"/>
                </a:solidFill>
                <a:latin typeface="Calibri"/>
              </a:defRPr>
            </a:pPr>
            <a:r>
              <a:t>04 • FINAL DELIVERY</a:t>
            </a:r>
          </a:p>
          <a:p>
            <a:pPr>
              <a:spcAft>
                <a:spcPts val="200"/>
              </a:spcAft>
              <a:defRPr sz="1500" b="1">
                <a:solidFill>
                  <a:srgbClr val="18181B"/>
                </a:solidFill>
                <a:latin typeface="Calibri"/>
              </a:defRPr>
            </a:pPr>
            <a:r>
              <a:t>MMR Diversity &amp; Mixer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Top 15 Live Feed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MMR Greedy Re-ranking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λ=0.70 Diversity tradeoff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Author exposure cap (≤2)</a:t>
            </a:r>
          </a:p>
          <a:p>
            <a:pPr>
              <a:spcAft>
                <a:spcPts val="200"/>
              </a:spcAft>
              <a:defRPr sz="1150">
                <a:solidFill>
                  <a:srgbClr val="3F3F46"/>
                </a:solidFill>
                <a:latin typeface="Calibri"/>
              </a:defRPr>
            </a:pPr>
            <a:r>
              <a:t>• In/Out-network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6908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251960"/>
            <a:ext cx="4736592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1E3A5F"/>
                </a:solidFill>
                <a:latin typeface="Calibri"/>
              </a:defRPr>
            </a:pPr>
            <a:r>
              <a:t>Why Industry Uses Cascaded Multi-Stage Systems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The fundamental computational tradeoff in modern social feeds</a:t>
            </a:r>
          </a:p>
          <a:p>
            <a:pPr>
              <a:spcAft>
                <a:spcPts val="350"/>
              </a:spcAft>
              <a:defRPr sz="1250">
                <a:solidFill>
                  <a:srgbClr val="3F3F46"/>
                </a:solidFill>
                <a:latin typeface="Calibri"/>
              </a:defRPr>
            </a:pPr>
            <a:r>
              <a:t>• Scale Bottleneck: Complex neural rankers cannot evaluate 3,500+ items within 50ms web latency limits.</a:t>
            </a:r>
          </a:p>
          <a:p>
            <a:pPr>
              <a:spcAft>
                <a:spcPts val="350"/>
              </a:spcAft>
              <a:defRPr sz="1250">
                <a:solidFill>
                  <a:srgbClr val="3F3F46"/>
                </a:solidFill>
                <a:latin typeface="Calibri"/>
              </a:defRPr>
            </a:pPr>
            <a:r>
              <a:t>• Candidate Funnel: Fast candidate retrieval extracts 350 viable candidates in &lt;5ms.</a:t>
            </a:r>
          </a:p>
          <a:p>
            <a:pPr>
              <a:spcAft>
                <a:spcPts val="350"/>
              </a:spcAft>
              <a:defRPr sz="1250">
                <a:solidFill>
                  <a:srgbClr val="3F3F46"/>
                </a:solidFill>
                <a:latin typeface="Calibri"/>
              </a:defRPr>
            </a:pPr>
            <a:r>
              <a:t>• Heavy Ranker Focus: Rich 12-dimensional logistic regression evaluates only top 350 candidates.</a:t>
            </a:r>
          </a:p>
          <a:p>
            <a:pPr>
              <a:spcAft>
                <a:spcPts val="350"/>
              </a:spcAft>
              <a:defRPr sz="1250">
                <a:solidFill>
                  <a:srgbClr val="3F3F46"/>
                </a:solidFill>
                <a:latin typeface="Calibri"/>
              </a:defRPr>
            </a:pPr>
            <a:r>
              <a:t>• Diversity Mixer: Enforces author exposure caps (≤2) and balances in/out network discovery.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06908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8" y="4178808"/>
            <a:ext cx="4992624" cy="1865376"/>
          </a:xfrm>
          <a:prstGeom prst="roundRect">
            <a:avLst/>
          </a:prstGeom>
          <a:solidFill>
            <a:srgbClr val="0A0A0C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varsity_refined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4632" y="4215384"/>
            <a:ext cx="3238654" cy="17922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0" y="6062472"/>
            <a:ext cx="48463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71717A"/>
                </a:solidFill>
                <a:latin typeface="Calibri"/>
              </a:defRPr>
            </a:pPr>
            <a:r>
              <a:t>Live Funnel in Prototype: 3,500 Corpus → 350 Sourced → Filtered → Top 15 Feed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2410C"/>
                </a:solidFill>
                <a:latin typeface="Calibri"/>
              </a:defRPr>
            </a:pPr>
            <a:r>
              <a:t>IMPLICIT VS. EXPLICIT FEEDBACK &amp; CONFIDENCE MODELS</a:t>
            </a:r>
          </a:p>
          <a:p>
            <a:pPr>
              <a:defRPr sz="2800" b="1">
                <a:solidFill>
                  <a:srgbClr val="18181B"/>
                </a:solidFill>
                <a:latin typeface="Calibri"/>
              </a:defRPr>
            </a:pPr>
            <a:r>
              <a:t>User Feedback: Modeling Implicit Interactions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3035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1783080"/>
            <a:ext cx="4828032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1E3A5F"/>
                </a:solidFill>
                <a:latin typeface="Calibri"/>
              </a:defRPr>
            </a:pPr>
            <a:r>
              <a:t>The Social Recommender Reality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Why social feeds generate over 99% implicit feedback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Explicit Rating Scarcity: Students rarely submit 1-to-5 star ratings; real social interactions occur via organic scrolls, likes, and replies.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Zero As Missing, Not Dislike: An unread campus post is never a negative dislike; the user simply hasn't scrolled past it yet.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Negative Dwell Sampling: Viewport dwell time &lt; 1.5 seconds is logged as an implicit skip to penalize clickbait.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4343400"/>
            <a:ext cx="4828032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C2410C"/>
                </a:solidFill>
                <a:latin typeface="Calibri"/>
              </a:defRPr>
            </a:pPr>
            <a:r>
              <a:t>Confidence-Weighted Matrix Formulation (Hu et al.)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C_ui = 1 + α · r_ui    (Confidence parameter α = 40)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Engaged Post (Like / Reply): C_ui = 41 (High certainty parameter update).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Unobserved Post (Baseline): C_ui = 1 (Low certainty baseline expectation).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Action Weights: Like (+1.0), Reply (+2.0), Bookmark (+1.5), Skip (-0.5).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Evaluation: Explicit 1-5 holdout ratings evaluate offline RMSE (1.3726).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00200"/>
            <a:ext cx="51206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19088" y="1709928"/>
            <a:ext cx="4901184" cy="1865376"/>
          </a:xfrm>
          <a:prstGeom prst="roundRect">
            <a:avLst/>
          </a:prstGeom>
          <a:solidFill>
            <a:srgbClr val="0A0A0C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rop_post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932439"/>
            <a:ext cx="4828032" cy="142035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92240" y="35935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71717A"/>
                </a:solidFill>
                <a:latin typeface="Calibri"/>
              </a:defRPr>
            </a:pPr>
            <a:r>
              <a:t>Prototype Zoom: Multi-action interaction bar (Like, Reply, Bookmark, Skip)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4160520"/>
            <a:ext cx="51206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4343400"/>
            <a:ext cx="4645152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1E3A5F"/>
                </a:solidFill>
                <a:latin typeface="Calibri"/>
              </a:defRPr>
            </a:pPr>
            <a:r>
              <a:t>Multimodal Feedback in Action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Real-time conversion from student UI actions to model matrices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Viewport Dwell Tracker: Measures active dwell seconds per post card.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Real-Time Matrix Update: Clicking ❤️ or 💬 immediately updates user vectors.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Skip Penalty (✕): Immediately fades post and penalizes predicted P(Skip).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2410C"/>
                </a:solidFill>
                <a:latin typeface="Calibri"/>
              </a:defRPr>
            </a:pPr>
            <a:r>
              <a:t>SIMILARITY MEASURES &amp; MEMORY-BASED METHODS</a:t>
            </a:r>
          </a:p>
          <a:p>
            <a:pPr>
              <a:defRPr sz="2800" b="1">
                <a:solidFill>
                  <a:srgbClr val="18181B"/>
                </a:solidFill>
                <a:latin typeface="Calibri"/>
              </a:defRPr>
            </a:pPr>
            <a:r>
              <a:t>Similarity Metrics: Pearson Correlation vs. Cosine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3035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1783080"/>
            <a:ext cx="4828032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1E3A5F"/>
                </a:solidFill>
                <a:latin typeface="Calibri"/>
              </a:defRPr>
            </a:pPr>
            <a:r>
              <a:t>Cosine Similarity (Angle Alignment)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Cos(u, v) = (u · v) / (||u|| · ||v||)  •  Used in Content Matching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Non-Negative Term Space: TF-IDF word frequencies and hashtags are strictly ≥ 0, making the cosine angle optimal for semantic text similarity.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Length Invariant: Normalizes for length differences so a long departmental notice can match a brief student tweet.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3035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4297680"/>
            <a:ext cx="4828032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C2410C"/>
                </a:solidFill>
                <a:latin typeface="Calibri"/>
              </a:defRPr>
            </a:pPr>
            <a:r>
              <a:t>Pearson Correlation (Mean-Centered De-Biasing)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Pearson(u, v) = Σ (r_ui - r̄_u)(r_vi - r̄_v) / Norm  •  Used in User-kNN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Eliminates User Bias: Subtracting student mean rating (r̄_u) eliminates distortions between generous likers and strict lurkers.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Significance Weighting: Shrinkage factor min(|I_uv|, 5) / 5 prevents spurious 1.0 correlations when two students share only 1 common like.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00200"/>
            <a:ext cx="512064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19088" y="1709928"/>
            <a:ext cx="4901184" cy="1865376"/>
          </a:xfrm>
          <a:prstGeom prst="roundRect">
            <a:avLst/>
          </a:prstGeom>
          <a:solidFill>
            <a:srgbClr val="0A0A0C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rop_similarit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043" y="1746504"/>
            <a:ext cx="4655273" cy="1792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92240" y="359359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71717A"/>
                </a:solidFill>
                <a:latin typeface="Calibri"/>
              </a:defRPr>
            </a:pPr>
            <a:r>
              <a:t>Live Explainer: Real-time similarity scores computed per candidate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4114800"/>
            <a:ext cx="51206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4297680"/>
            <a:ext cx="4645152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1E3A5F"/>
                </a:solidFill>
                <a:latin typeface="Calibri"/>
              </a:defRPr>
            </a:pPr>
            <a:r>
              <a:t>Candidate Affinity Deconstruction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How Varsity combines diverse similarity perspectives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Social Network Affinity (43.1%): Shortest-path distance in campus follow graph.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iALS Latent Match (34.5%): Dot product of 32-dim latent factor vectors.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Topic Alignment (8.6%): Cosine match against student TF-IDF centroid vector.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Multi-Perspective Ranking: Full transparency with zero opacity.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2410C"/>
                </a:solidFill>
                <a:latin typeface="Calibri"/>
              </a:defRPr>
            </a:pPr>
            <a:r>
              <a:t>MATRIX FACTORIZATION, SVD &amp; LATENT FACTORS</a:t>
            </a:r>
          </a:p>
          <a:p>
            <a:pPr>
              <a:defRPr sz="2800" b="1">
                <a:solidFill>
                  <a:srgbClr val="18181B"/>
                </a:solidFill>
                <a:latin typeface="Calibri"/>
              </a:defRPr>
            </a:pPr>
            <a:r>
              <a:t>Model-Based RecSys: Latent Factors &amp; iALS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28216"/>
            <a:ext cx="292608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C2410C"/>
                </a:solidFill>
                <a:latin typeface="Calibri"/>
              </a:defRPr>
            </a:pPr>
            <a:r>
              <a:t>98.7%</a:t>
            </a:r>
          </a:p>
          <a:p>
            <a:pPr>
              <a:defRPr sz="1250" b="1">
                <a:solidFill>
                  <a:srgbClr val="18181B"/>
                </a:solidFill>
                <a:latin typeface="Calibri"/>
              </a:defRPr>
            </a:pPr>
            <a:r>
              <a:t>Matrix Sparsity</a:t>
            </a:r>
          </a:p>
          <a:p>
            <a:pPr>
              <a:defRPr sz="1050">
                <a:solidFill>
                  <a:srgbClr val="71717A"/>
                </a:solidFill>
                <a:latin typeface="Calibri"/>
              </a:defRPr>
            </a:pPr>
            <a:r>
              <a:t>400 x 3,500 = 1.4M cells (22k ratings)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0020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728216"/>
            <a:ext cx="292608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E3A5F"/>
                </a:solidFill>
                <a:latin typeface="Calibri"/>
              </a:defRPr>
            </a:pPr>
            <a:r>
              <a:t>32 Dims</a:t>
            </a:r>
          </a:p>
          <a:p>
            <a:pPr>
              <a:defRPr sz="1250" b="1">
                <a:solidFill>
                  <a:srgbClr val="18181B"/>
                </a:solidFill>
                <a:latin typeface="Calibri"/>
              </a:defRPr>
            </a:pPr>
            <a:r>
              <a:t>Latent Factor Space</a:t>
            </a:r>
          </a:p>
          <a:p>
            <a:pPr>
              <a:defRPr sz="1050">
                <a:solidFill>
                  <a:srgbClr val="71717A"/>
                </a:solidFill>
                <a:latin typeface="Calibri"/>
              </a:defRPr>
            </a:pPr>
            <a:r>
              <a:t>Learns topics (hackathons, research, clubs)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00200"/>
            <a:ext cx="3566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28216"/>
            <a:ext cx="320040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0D9488"/>
                </a:solidFill>
                <a:latin typeface="Calibri"/>
              </a:defRPr>
            </a:pPr>
            <a:r>
              <a:t>O(1)</a:t>
            </a:r>
          </a:p>
          <a:p>
            <a:pPr>
              <a:defRPr sz="1250" b="1">
                <a:solidFill>
                  <a:srgbClr val="18181B"/>
                </a:solidFill>
                <a:latin typeface="Calibri"/>
              </a:defRPr>
            </a:pPr>
            <a:r>
              <a:t>Inference Complexity</a:t>
            </a:r>
          </a:p>
          <a:p>
            <a:pPr>
              <a:defRPr sz="1050">
                <a:solidFill>
                  <a:srgbClr val="71717A"/>
                </a:solidFill>
                <a:latin typeface="Calibri"/>
              </a:defRPr>
            </a:pPr>
            <a:r>
              <a:t>Dot product between precomputed user &amp; item vectors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26080"/>
            <a:ext cx="548640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108960"/>
            <a:ext cx="5010912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1E3A5F"/>
                </a:solidFill>
                <a:latin typeface="Calibri"/>
              </a:defRPr>
            </a:pPr>
            <a:r>
              <a:t>Why Standard SVD Fails on Social Feeds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The missing-value trap in sparse implicit matrices</a:t>
            </a:r>
          </a:p>
          <a:p>
            <a:pPr>
              <a:spcAft>
                <a:spcPts val="350"/>
              </a:spcAft>
              <a:defRPr sz="1250">
                <a:solidFill>
                  <a:srgbClr val="3F3F46"/>
                </a:solidFill>
                <a:latin typeface="Calibri"/>
              </a:defRPr>
            </a:pPr>
            <a:r>
              <a:t>• Zero-Rating Bias: Truncated SVD treats missing entries as zeros (dislikes), unfairly penalizing unexposed announcements.</a:t>
            </a:r>
          </a:p>
          <a:p>
            <a:pPr>
              <a:spcAft>
                <a:spcPts val="350"/>
              </a:spcAft>
              <a:defRPr sz="1250">
                <a:solidFill>
                  <a:srgbClr val="3F3F46"/>
                </a:solidFill>
                <a:latin typeface="Calibri"/>
              </a:defRPr>
            </a:pPr>
            <a:r>
              <a:t>• Extreme Sparsity: Memory k-NN fails under 98.7% sparsity; latent embeddings generalize across zero co-ratings.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548640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4937760"/>
            <a:ext cx="5010912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C2410C"/>
                </a:solidFill>
                <a:latin typeface="Calibri"/>
              </a:defRPr>
            </a:pPr>
            <a:r>
              <a:t>Alternating Least Squares (iALS) Solution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x_u = (Y^T C^u Y + λ I)^(-1) Y^T C^u p_u  (L2 regularization λ = 0.05)</a:t>
            </a:r>
          </a:p>
          <a:p>
            <a:pPr>
              <a:spcAft>
                <a:spcPts val="350"/>
              </a:spcAft>
              <a:defRPr sz="1250">
                <a:solidFill>
                  <a:srgbClr val="3F3F46"/>
                </a:solidFill>
                <a:latin typeface="Calibri"/>
              </a:defRPr>
            </a:pPr>
            <a:r>
              <a:t>• Closed-Form Update: Alternates between fixing item vectors Y to solve user vectors x_u, and vice-versa, with confidence C_ui.</a:t>
            </a:r>
          </a:p>
          <a:p>
            <a:pPr>
              <a:spcAft>
                <a:spcPts val="350"/>
              </a:spcAft>
              <a:defRPr sz="1250">
                <a:solidFill>
                  <a:srgbClr val="3F3F46"/>
                </a:solidFill>
                <a:latin typeface="Calibri"/>
              </a:defRPr>
            </a:pPr>
            <a:r>
              <a:t>• Scalable Latent Retrieval: Yields 32-dim dense embeddings for instant retrieval.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926080"/>
            <a:ext cx="493776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01968" y="3035808"/>
            <a:ext cx="4718304" cy="3008376"/>
          </a:xfrm>
          <a:prstGeom prst="roundRect">
            <a:avLst/>
          </a:prstGeom>
          <a:solidFill>
            <a:srgbClr val="0A0A0C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why_this_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860" y="3072384"/>
            <a:ext cx="4574518" cy="2935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0" y="6062472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71717A"/>
                </a:solidFill>
                <a:latin typeface="Calibri"/>
              </a:defRPr>
            </a:pPr>
            <a:r>
              <a:t>Prototype Callout: iALS latent match contributing 34.5% to candidate score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2410C"/>
                </a:solidFill>
                <a:latin typeface="Calibri"/>
              </a:defRPr>
            </a:pPr>
            <a:r>
              <a:t>ITEM PROFILES, TF-IDF &amp; SWITCHING HYBRIDS</a:t>
            </a:r>
          </a:p>
          <a:p>
            <a:pPr>
              <a:defRPr sz="2800" b="1">
                <a:solidFill>
                  <a:srgbClr val="18181B"/>
                </a:solidFill>
                <a:latin typeface="Calibri"/>
              </a:defRPr>
            </a:pPr>
            <a:r>
              <a:t>Solving Cold-Start: The Switching Hybrid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2926080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46504"/>
            <a:ext cx="26517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E3A5F"/>
                </a:solidFill>
                <a:latin typeface="Calibri"/>
              </a:defRPr>
            </a:pPr>
            <a:r>
              <a:t>1. INCOMING STUDENT REQUEST</a:t>
            </a:r>
          </a:p>
          <a:p>
            <a:pPr>
              <a:spcAft>
                <a:spcPts val="400"/>
              </a:spcAft>
              <a:defRPr sz="1500" b="1">
                <a:solidFill>
                  <a:srgbClr val="18181B"/>
                </a:solidFill>
                <a:latin typeface="Calibri"/>
              </a:defRPr>
            </a:pPr>
            <a:r>
              <a:t>Evaluate User History</a:t>
            </a:r>
          </a:p>
          <a:p>
            <a:pPr>
              <a:defRPr sz="1200">
                <a:solidFill>
                  <a:srgbClr val="71717A"/>
                </a:solidFill>
                <a:latin typeface="Calibri"/>
              </a:defRPr>
            </a:pPr>
            <a:r>
              <a:t>Count recorded likes, replies &amp; bookmarks: |H_u|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794760" y="2286000"/>
            <a:ext cx="320040" cy="274320"/>
          </a:xfrm>
          <a:prstGeom prst="rightArrow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51960" y="1600200"/>
            <a:ext cx="3200400" cy="1645920"/>
          </a:xfrm>
          <a:prstGeom prst="roundRect">
            <a:avLst/>
          </a:prstGeom>
          <a:solidFill>
            <a:srgbClr val="F5F5F4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746504"/>
            <a:ext cx="292608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2410C"/>
                </a:solidFill>
                <a:latin typeface="Calibri"/>
              </a:defRPr>
            </a:pPr>
            <a:r>
              <a:t>2. DYNAMIC ROUTING THRESHOLD</a:t>
            </a:r>
          </a:p>
          <a:p>
            <a:pPr>
              <a:spcAft>
                <a:spcPts val="400"/>
              </a:spcAft>
              <a:defRPr sz="1600" b="1">
                <a:solidFill>
                  <a:srgbClr val="18181B"/>
                </a:solidFill>
                <a:latin typeface="Calibri"/>
              </a:defRPr>
            </a:pPr>
            <a:r>
              <a:t>Is Interactions |H_u| &lt; 3?</a:t>
            </a:r>
          </a:p>
          <a:p>
            <a:pPr>
              <a:defRPr sz="1200">
                <a:solidFill>
                  <a:srgbClr val="3F3F46"/>
                </a:solidFill>
                <a:latin typeface="Calibri"/>
              </a:defRPr>
            </a:pPr>
            <a:r>
              <a:t>• YES → Route to Knowledge Content Switch</a:t>
            </a:r>
            <a:br/>
            <a:r>
              <a:t>• NO  → Route to Collaborative iALS Models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589520" y="2286000"/>
            <a:ext cx="320040" cy="274320"/>
          </a:xfrm>
          <a:prstGeom prst="rightArrow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1600200"/>
            <a:ext cx="3383280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746504"/>
            <a:ext cx="31089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Calibri"/>
              </a:defRPr>
            </a:pPr>
            <a:r>
              <a:t>3. PROVEN BENCHMARK IMPACT</a:t>
            </a:r>
          </a:p>
          <a:p>
            <a:pPr>
              <a:spcAft>
                <a:spcPts val="400"/>
              </a:spcAft>
              <a:defRPr sz="1600" b="1">
                <a:solidFill>
                  <a:srgbClr val="0D9488"/>
                </a:solidFill>
                <a:latin typeface="Calibri"/>
              </a:defRPr>
            </a:pPr>
            <a:r>
              <a:t>+61.6x Cold-Start NDCG Boost!</a:t>
            </a:r>
          </a:p>
          <a:p>
            <a:pPr>
              <a:defRPr sz="1200">
                <a:solidFill>
                  <a:srgbClr val="3F3F46"/>
                </a:solidFill>
                <a:latin typeface="Calibri"/>
              </a:defRPr>
            </a:pPr>
            <a:r>
              <a:t>Cold NDCG@10 leaps from 0.0109 (pure CF) to 0.6719 with Content Switching!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539496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703320"/>
            <a:ext cx="4919472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1E3A5F"/>
                </a:solidFill>
                <a:latin typeface="Calibri"/>
              </a:defRPr>
            </a:pPr>
            <a:r>
              <a:t>How Content-Based Filtering Solves the Dilemma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Leveraging semantic campus metadata before collaborative history exists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The Cold-Start Dilemma: Collaborative models output zero when a new freshman registers with no prior ratings.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5,000 N-Gram TF-IDF: Extracts semantic features from post text, department names, and campus hashtags (#midterm, #hackathon).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Dynamic Centroid &amp; Transition: Student profile tracks running centroid; automatically switches to iALS at ≥3 actions.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20440"/>
            <a:ext cx="5029200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10528" y="3630168"/>
            <a:ext cx="4809744" cy="2368296"/>
          </a:xfrm>
          <a:prstGeom prst="roundRect">
            <a:avLst/>
          </a:prstGeom>
          <a:solidFill>
            <a:srgbClr val="0A0A0C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ersona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9818" y="3666744"/>
            <a:ext cx="2871162" cy="22951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83680" y="6016752"/>
            <a:ext cx="46634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71717A"/>
                </a:solidFill>
                <a:latin typeface="Calibri"/>
              </a:defRPr>
            </a:pPr>
            <a:r>
              <a:t>Persona Modal: Switching between Warm Alice (CS Undergrad) &amp; Cold Charlie (Freshman)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2410C"/>
                </a:solidFill>
                <a:latin typeface="Calibri"/>
              </a:defRPr>
            </a:pPr>
            <a:r>
              <a:t>CLASSIFICATION ALGORITHMS &amp; FEATURE COMBINATION</a:t>
            </a:r>
          </a:p>
          <a:p>
            <a:pPr>
              <a:defRPr sz="2800" b="1">
                <a:solidFill>
                  <a:srgbClr val="18181B"/>
                </a:solidFill>
                <a:latin typeface="Calibri"/>
              </a:defRPr>
            </a:pPr>
            <a:r>
              <a:t>Heavy Ranker: Calibrated Probabilities &amp; Age Decay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1783080"/>
            <a:ext cx="4919472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1E3A5F"/>
                </a:solidFill>
                <a:latin typeface="Calibri"/>
              </a:defRPr>
            </a:pPr>
            <a:r>
              <a:t>Multi-Action Engagement Classifiers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12-Dimensional feature representation evaluated via Logistic Regression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12 Hydrated Features: Follower counts, graph hop distance, tag overlap, iALS score, recency.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Calibrated P(Like) &amp; P(Reply): Predicts positive engagement probabilities (w_like = 0.60, w_reply = 1.20).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Calibrated P(Skip): Predicts probability student ignores post (w_skip = 0.40 penalty).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69080"/>
            <a:ext cx="53949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4251960"/>
            <a:ext cx="4919472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C2410C"/>
                </a:solidFill>
                <a:latin typeface="Calibri"/>
              </a:defRPr>
            </a:pPr>
            <a:r>
              <a:t>Expected Utility Scoring Formula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Score = [w_like·P(Like) + w_reply·P(Reply) - w_skip·P(Skip)] · e^(-λ_age·Δt)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Discussion Priority: High reply weight (+1.20) fosters discussion; skip penalty (-0.40) suppresses clickbait.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Exponential Recency Decay: Exp(-0.02 · Δt) half-life penalty ensures fresh announcements outrank stale posts.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Interactive Control: Weights can be tuned live in the Sliders drawer.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00200"/>
            <a:ext cx="502920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10528" y="1709928"/>
            <a:ext cx="4809744" cy="1819656"/>
          </a:xfrm>
          <a:prstGeom prst="roundRect">
            <a:avLst/>
          </a:prstGeom>
          <a:solidFill>
            <a:srgbClr val="0A0A0C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rop_heavy_ranker_pr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1980373"/>
            <a:ext cx="4736592" cy="12787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0" y="3547872"/>
            <a:ext cx="46634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71717A"/>
                </a:solidFill>
                <a:latin typeface="Calibri"/>
              </a:defRPr>
            </a:pPr>
            <a:r>
              <a:t>Heavy Ranker Output: P(Like)=40%, P(Reply)=16%, P(Skip)=60% -&gt; Score: 0.1367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069080"/>
            <a:ext cx="50292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38544" y="4251960"/>
            <a:ext cx="4553712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1E3A5F"/>
                </a:solidFill>
                <a:latin typeface="Calibri"/>
              </a:defRPr>
            </a:pPr>
            <a:r>
              <a:t>Verified Live Calculation Proof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Exact arithmetic match to the prototype screenshot above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Raw Engagement Utility: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   (0.60 · 0.40) + (1.20 · 0.16) - (0.40 · 0.60) = 0.192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Elapsed Hours: Δt = 15 hours elapsed since creation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Recency Factor: exp(-0.02 · 15) = 0.7408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Final Utility Score: 0.192 · 0.7118 = 0.1367 (Exact Match!)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2410C"/>
                </a:solidFill>
                <a:latin typeface="Calibri"/>
              </a:defRPr>
            </a:pPr>
            <a:r>
              <a:t>INTRA-LIST DIVERSITY &amp; RE-RANKING</a:t>
            </a:r>
          </a:p>
          <a:p>
            <a:pPr>
              <a:defRPr sz="2800" b="1">
                <a:solidFill>
                  <a:srgbClr val="18181B"/>
                </a:solidFill>
                <a:latin typeface="Calibri"/>
              </a:defRPr>
            </a:pPr>
            <a:r>
              <a:t>Diversity vs. Accuracy: Maximal Marginal Relevance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3949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1783080"/>
            <a:ext cx="4919472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1E3A5F"/>
                </a:solidFill>
                <a:latin typeface="Calibri"/>
              </a:defRPr>
            </a:pPr>
            <a:r>
              <a:t>Breaking Campus Filter Bubbles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Trading marginal relevance for broad catalog discovery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Echo Chamber Risk: A ranker optimized purely for P(Like) floods the feed with 10 duplicate posts on one topic.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Intra-List Diversity (ILD): Measures pairwise distance between recommended items to guarantee topical variety.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69080"/>
            <a:ext cx="53949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4251960"/>
            <a:ext cx="4919472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C2410C"/>
                </a:solidFill>
                <a:latin typeface="Calibri"/>
              </a:defRPr>
            </a:pPr>
            <a:r>
              <a:t>Maximal Marginal Relevance (MMR) Formulation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argmax [ λ · Sim1(d_i, u) - (1 - λ) · max Sim2(d_i, d_j) ]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Tunable Tradeoff: Slider blends relevance (λ=1.0) and catalog novelty (λ=0.0).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Empirical Ablation: At λ=0.70, ILD diversity jumps to 0.9616 (+5.1% catalog variety) with zero loss in Top-10 precision!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0020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10528" y="1709928"/>
            <a:ext cx="4809744" cy="4334256"/>
          </a:xfrm>
          <a:prstGeom prst="roundRect">
            <a:avLst/>
          </a:prstGeom>
          <a:solidFill>
            <a:srgbClr val="0A0A0C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rop_drawer_sl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350" y="1746504"/>
            <a:ext cx="3108099" cy="42611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0" y="6062472"/>
            <a:ext cx="46634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71717A"/>
                </a:solidFill>
                <a:latin typeface="Calibri"/>
              </a:defRPr>
            </a:pPr>
            <a:r>
              <a:t>Control Drawer: Interactive MMR Diversity Lambda slider and author cap constraints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2410C"/>
                </a:solidFill>
                <a:latin typeface="Calibri"/>
              </a:defRPr>
            </a:pPr>
            <a:r>
              <a:t>ERROR, DECISION SUPPORT &amp; USER-CENTERED METRICS</a:t>
            </a:r>
          </a:p>
          <a:p>
            <a:pPr>
              <a:defRPr sz="2800" b="1">
                <a:solidFill>
                  <a:srgbClr val="18181B"/>
                </a:solidFill>
                <a:latin typeface="Calibri"/>
              </a:defRPr>
            </a:pPr>
            <a:r>
              <a:t>Empirical Evaluation: 8 Models &amp; 6 Ablations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3949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1783080"/>
            <a:ext cx="4919472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1E3A5F"/>
                </a:solidFill>
                <a:latin typeface="Calibri"/>
              </a:defRPr>
            </a:pPr>
            <a:r>
              <a:t>Comprehensive Evaluation Framework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Offline benchmarking across 8 models on 80/20 temporal splits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Rating Accuracy: RMSE = 1.3726 (User-kNN) on 1-to-5 star explicit holdout.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NDCG@10 (0.0186): Top ranking quality against ground-truth user engagement.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Coverage (10.0%) &amp; ILD (0.9599): Prevents popularity monopoly and guarantees variety across student communities.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51960"/>
            <a:ext cx="539496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4434840"/>
            <a:ext cx="491947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C2410C"/>
                </a:solidFill>
                <a:latin typeface="Calibri"/>
              </a:defRPr>
            </a:pPr>
            <a:r>
              <a:t>Key Empirical Takeaways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Why the multi-stage hybrid dominates individual baselines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Varsity Hybrid Wins: Achieves top NDCG@10 (0.0186), beating iALS (0.0139) and k-NN (0.0109).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Cold-Start Leaps: Switching hybrid boosts cold student NDCG by +61.6x (0.0109 → 0.6719).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Diversity Gain: MMR achieves 0.9599 diversity with zero precision penalty.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0020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10528" y="1709928"/>
            <a:ext cx="4809744" cy="4334256"/>
          </a:xfrm>
          <a:prstGeom prst="roundRect">
            <a:avLst/>
          </a:prstGeom>
          <a:solidFill>
            <a:srgbClr val="0A0A0C"/>
          </a:solidFill>
          <a:ln w="12700">
            <a:solidFill>
              <a:srgbClr val="272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enchmark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350" y="1746504"/>
            <a:ext cx="3108099" cy="42611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0" y="6062472"/>
            <a:ext cx="46634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71717A"/>
                </a:solidFill>
                <a:latin typeface="Calibri"/>
              </a:defRPr>
            </a:pPr>
            <a:r>
              <a:t>Evaluation Matrix: Benchmarks across Random, Popularity, k-NN, iALS, and Hybrid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2410C"/>
                </a:solidFill>
                <a:latin typeface="Calibri"/>
              </a:defRPr>
            </a:pPr>
            <a:r>
              <a:t>INDUSTRY DESIGN BLUEPRINTS &amp; APPLIED RESEARCH</a:t>
            </a:r>
          </a:p>
          <a:p>
            <a:pPr>
              <a:defRPr sz="2800" b="1">
                <a:solidFill>
                  <a:srgbClr val="18181B"/>
                </a:solidFill>
                <a:latin typeface="Calibri"/>
              </a:defRPr>
            </a:pPr>
            <a:r>
              <a:t>Project References &amp; Architecture Foundations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206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1783080"/>
            <a:ext cx="4645152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50" b="1">
                <a:solidFill>
                  <a:srgbClr val="1E3A5F"/>
                </a:solidFill>
                <a:latin typeface="Calibri"/>
              </a:defRPr>
            </a:pPr>
            <a:r>
              <a:t>X Corp. / Twitter Open Source (2023)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'The Algorithm: Recommendation Pipeline Architecture', GitHub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Architectural Blueprint for Varsity's Multi-Stage Lifecycle: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   - Sub-5ms Candidate Sourcing (In-Network + Out-Network) →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   - 12-Dimensional Feature Hydration → Calibrated Heavy Ranking →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   - Diversity Mixing &amp; Social Network graph traversal.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00200"/>
            <a:ext cx="51206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47104" y="1783080"/>
            <a:ext cx="4645152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50" b="1">
                <a:solidFill>
                  <a:srgbClr val="C2410C"/>
                </a:solidFill>
                <a:latin typeface="Calibri"/>
              </a:defRPr>
            </a:pPr>
            <a:r>
              <a:t>Yifan Hu, Yehuda Koren, Chris Volinsky (2008)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'Collaborative Filtering for Implicit Feedback Datasets', IEEE ICDM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Mathematical Foundation for Implicit RecSys: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   - Confidence matrix formulation: C_ui = 1 + α · r_ui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   - Alternating Least Squares (iALS) closed-form linear updates.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   - Core engine behind Varsity's 32-dim latent factor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1206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4251960"/>
            <a:ext cx="4645152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50" b="1">
                <a:solidFill>
                  <a:srgbClr val="1E3A5F"/>
                </a:solidFill>
                <a:latin typeface="Calibri"/>
              </a:defRPr>
            </a:pPr>
            <a:r>
              <a:t>Robin Burke (2002)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'Hybrid Recommender Systems: Survey and Experiments', UMUAI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Theoretical Taxonomy for Hybrid Systems: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   - Switching Hybrid: Fallback from collaborative filtering to TF-IDF centroid matching when user interactions &lt; 3.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   - Cascaded Ranking: Sourcing coarse candidates before fine-grained scoring.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069080"/>
            <a:ext cx="512064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4251960"/>
            <a:ext cx="4645152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50" b="1">
                <a:solidFill>
                  <a:srgbClr val="C2410C"/>
                </a:solidFill>
                <a:latin typeface="Calibri"/>
              </a:defRPr>
            </a:pPr>
            <a:r>
              <a:t>Sarwar et al. (2001) &amp; Carbonell et al. (1998)</a:t>
            </a:r>
          </a:p>
          <a:p>
            <a:pPr>
              <a:spcAft>
                <a:spcPts val="4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'Item-Based Collaborative Filtering' (WWW) &amp; 'MMR Diversity' (SIGIR)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• Similarity De-biasing &amp; Diversity Re-Ranking: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   - Item-kNN co-occurrence, Pearson mean-centering &amp; significance weighting.</a:t>
            </a:r>
          </a:p>
          <a:p>
            <a:pPr>
              <a:spcAft>
                <a:spcPts val="350"/>
              </a:spcAft>
              <a:defRPr sz="1300">
                <a:solidFill>
                  <a:srgbClr val="3F3F46"/>
                </a:solidFill>
                <a:latin typeface="Calibri"/>
              </a:defRPr>
            </a:pPr>
            <a:r>
              <a:t>   - Maximal Marginal Relevance (MMR) trade-off between relevance and topic spread.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