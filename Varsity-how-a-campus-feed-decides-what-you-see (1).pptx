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Varsity: a multi-stage hybrid campus feed recommender modeled on modern social architectures. The goal is to deliver relevant, fresh, and diverse content in milliseconds.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environment numbers: 400 students create realistic power-law network dynamics. 3,500 posts need fast filtering down to just 10 high-relevance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10x funnel at Stage 1: retrieving 350 candidates in under 5ms makes heavy scoring computationally feasible for the remaining stages.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sourcing mix: 150 in-network posts maintain social relevance, while 200 collaborative filtering items (iALS + Neural CF) and 50 content matches introduce discovery.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asymmetry of implicit feedback: silence is not dislike. With this confidence weight, zero engagement still retains a baseline confidence of 1, while deliberate interaction amplifies confidence 41-fold.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three mathematical foundations: Cosine handles text vectors, Pearson handles explicit neighborhood normalization with significance weighting, and iALS solves the 98.7% sparsity problem where standard SVD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dramatic cold-start jump: fallback content routing raises NDCG@10 from 0.0109 to 0.6719 (a 61.6x increase) by leveraging department tags and liked-post centroids.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screenshot example, 0.192 × 0.7408 is approximately 0.1422, not 0.1367. Show the screenshot's recorded score, 0.1367, and flag the mismatch.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MMR is necessary: pure greedy ranking bunches similar posts (e.g. 5 consecutive exam complaints). With lambda = 0.70, diversity climbs 5.1% to 0.962 without hurting precision.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the overall benchmark: the multi-stage hybrid achieves 0.0186 NDCG@10, outperforming standalone iALS (0.0139) and user neighborhood methods (0.0109), while maintaining a 0.9599 diversity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2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2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714531"/>
            <a:ext cx="523226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FEED ARCHITECTURE · CASE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189" y="2002767"/>
            <a:ext cx="4775081" cy="142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b="1" spc="-34" kern="100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Varsity: how a campus feed decides what you see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189" y="3582968"/>
            <a:ext cx="4775081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multi-stage hybrid recommender inspired by X's open-source pipeline, built for real-time campus scale.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189" y="4813995"/>
            <a:ext cx="3260048" cy="336649"/>
          </a:xfrm>
          <a:prstGeom prst="roundRect">
            <a:avLst>
              <a:gd name="adj" fmla="val 6790"/>
            </a:avLst>
          </a:prstGeom>
          <a:solidFill>
            <a:srgbClr val="197A46"/>
          </a:solidFill>
          <a:ln/>
        </p:spPr>
      </p:sp>
      <p:sp>
        <p:nvSpPr>
          <p:cNvPr id="6" name="Text 4"/>
          <p:cNvSpPr/>
          <p:nvPr/>
        </p:nvSpPr>
        <p:spPr>
          <a:xfrm>
            <a:off x="586666" y="4893544"/>
            <a:ext cx="3610678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SPEC · PRODUCTION V1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89458" y="0"/>
            <a:ext cx="6502237" cy="6858000"/>
          </a:xfrm>
          <a:prstGeom prst="rect">
            <a:avLst/>
          </a:prstGeom>
          <a:noFill/>
          <a:ln w="6350">
            <a:solidFill>
              <a:srgbClr val="C2CCD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9002" y="209550"/>
            <a:ext cx="6083148" cy="6438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874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DATASET &amp; OPERATING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7511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00" b="1" spc="-25" kern="100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The setup: 400 students, 3,500 posts, 22,000+ interactions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09585" y="2278856"/>
            <a:ext cx="3352716" cy="38100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552830"/>
            <a:ext cx="312412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STUDENT COMMUNITY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179" y="2910979"/>
            <a:ext cx="2895528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000" spc="-120" kern="100" dirty="0">
                <a:solidFill>
                  <a:srgbClr val="4C3BC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38179" y="3756402"/>
            <a:ext cx="2895528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Follow network with hub accounts and long-tail lurkers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19489" y="2278856"/>
            <a:ext cx="3352716" cy="38100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9" name="Text 7"/>
          <p:cNvSpPr/>
          <p:nvPr/>
        </p:nvSpPr>
        <p:spPr>
          <a:xfrm>
            <a:off x="4648084" y="2552830"/>
            <a:ext cx="312412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CANDIDATE POOL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48084" y="2910979"/>
            <a:ext cx="2895528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000" spc="-120" kern="100" dirty="0">
                <a:solidFill>
                  <a:srgbClr val="4C3BC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3,500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648084" y="3756402"/>
            <a:ext cx="2895528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Active corpus across department updates, clubs, and peer posts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394" y="2278856"/>
            <a:ext cx="3352716" cy="38100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13" name="Text 11"/>
          <p:cNvSpPr/>
          <p:nvPr/>
        </p:nvSpPr>
        <p:spPr>
          <a:xfrm>
            <a:off x="8457988" y="2552830"/>
            <a:ext cx="312412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LOGGED SIGNALS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57988" y="2910979"/>
            <a:ext cx="2895528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000" spc="-120" kern="100" dirty="0">
                <a:solidFill>
                  <a:srgbClr val="4C3BC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22k+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457988" y="3756402"/>
            <a:ext cx="2895528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Likes, replies, bookmarks, and dwell-measured skips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9585" y="5510342"/>
            <a:ext cx="548626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 LATENCY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585" y="5799276"/>
            <a:ext cx="548626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delivery (&lt; 50ms end-to-end)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24442" y="5510342"/>
            <a:ext cx="525766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RECOMMENDATION GOAL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4442" y="5799276"/>
            <a:ext cx="525766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the top-10 posts per student per request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089498" y="5503069"/>
            <a:ext cx="12700" cy="593030"/>
          </a:xfrm>
          <a:prstGeom prst="rect">
            <a:avLst/>
          </a:prstGeom>
          <a:solidFill>
            <a:srgbClr val="C2CCD5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72438" y="6481465"/>
            <a:ext cx="233317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REPORT · REV A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584789" y="6481465"/>
            <a:ext cx="606906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/ 10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874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7511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00" b="1" spc="-25" kern="100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Every feed request runs a four-stage funnel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9585" y="1407696"/>
            <a:ext cx="1158211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Progressive narrowing from 3,500 candidates down to 10 balanced items. Sourcing completes in under 5ms.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585" y="2780010"/>
            <a:ext cx="1828754" cy="1573312"/>
          </a:xfrm>
          <a:prstGeom prst="roundRect">
            <a:avLst>
              <a:gd name="adj" fmla="val 4843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281" y="2926984"/>
            <a:ext cx="168905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5B657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POOL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281" y="3191788"/>
            <a:ext cx="1549361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3,500 Posts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281" y="3538716"/>
            <a:ext cx="1689058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Active corpus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438339" y="3015884"/>
            <a:ext cx="45718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38339" y="3308231"/>
            <a:ext cx="457189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~350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895528" y="2780010"/>
            <a:ext cx="1828754" cy="1573312"/>
          </a:xfrm>
          <a:prstGeom prst="roundRect">
            <a:avLst>
              <a:gd name="adj" fmla="val 4843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224" y="2926984"/>
            <a:ext cx="168905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4C3BC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STAGE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35224" y="3191788"/>
            <a:ext cx="1549361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Candidate Retrieval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035224" y="3759676"/>
            <a:ext cx="1689058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~350 posts (&lt;5ms)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24282" y="3015884"/>
            <a:ext cx="45718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24282" y="3308231"/>
            <a:ext cx="457189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181470" y="2780010"/>
            <a:ext cx="1828754" cy="1573312"/>
          </a:xfrm>
          <a:prstGeom prst="roundRect">
            <a:avLst>
              <a:gd name="adj" fmla="val 4843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167" y="2926984"/>
            <a:ext cx="168905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5B657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STAGE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21167" y="3191788"/>
            <a:ext cx="1549361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Feature Hydration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321167" y="3759676"/>
            <a:ext cx="1549361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numbers per post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10225" y="3015884"/>
            <a:ext cx="45718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0225" y="3308231"/>
            <a:ext cx="457189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467413" y="2780010"/>
            <a:ext cx="1828754" cy="1573312"/>
          </a:xfrm>
          <a:prstGeom prst="roundRect">
            <a:avLst>
              <a:gd name="adj" fmla="val 4843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07110" y="2926984"/>
            <a:ext cx="168905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5B657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STAGE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07110" y="3191788"/>
            <a:ext cx="1549361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Heavy Ranker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607110" y="3538716"/>
            <a:ext cx="1689058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score per post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96167" y="3015884"/>
            <a:ext cx="45718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96167" y="3308231"/>
            <a:ext cx="457189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753356" y="2780010"/>
            <a:ext cx="1828754" cy="1573312"/>
          </a:xfrm>
          <a:prstGeom prst="roundRect">
            <a:avLst>
              <a:gd name="adj" fmla="val 4843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93053" y="2926984"/>
            <a:ext cx="168905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5B657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STAGE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93053" y="3191788"/>
            <a:ext cx="1549361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MMR Diversity Mixer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893053" y="3759676"/>
            <a:ext cx="1689058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Top-10 feed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09585" y="5510342"/>
            <a:ext cx="365750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STAGE 1 VOLUME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9585" y="5799276"/>
            <a:ext cx="365750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A313A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3,500 → 350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495688" y="5510342"/>
            <a:ext cx="342891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STAGE 2 ENRICHMENT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95688" y="5799276"/>
            <a:ext cx="342891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A313A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12 features / post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153196" y="5510342"/>
            <a:ext cx="342891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FINAL OUTPUT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53196" y="5799276"/>
            <a:ext cx="342891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A313A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Top-10 diversified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4260743" y="5503069"/>
            <a:ext cx="12700" cy="59303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40" name="Shape 38"/>
          <p:cNvSpPr/>
          <p:nvPr/>
        </p:nvSpPr>
        <p:spPr>
          <a:xfrm>
            <a:off x="7918252" y="5503069"/>
            <a:ext cx="12700" cy="593030"/>
          </a:xfrm>
          <a:prstGeom prst="rect">
            <a:avLst/>
          </a:prstGeom>
          <a:solidFill>
            <a:srgbClr val="C2CCD5"/>
          </a:solidFill>
          <a:ln/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72438" y="6481465"/>
            <a:ext cx="233317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REPORT · REV A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11584789" y="6481465"/>
            <a:ext cx="606906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/ 10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874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RETRIEVAL &amp; REPRESENTATION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7511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00" b="1" spc="-25" kern="100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Stages 1 and 2: gather ~350 candidates, then describe each one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9585" y="1407696"/>
            <a:ext cx="1158211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 parallel sourcing pathways merge before 12-dimensional feature hydration.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585" y="2533452"/>
            <a:ext cx="2514537" cy="1352352"/>
          </a:xfrm>
          <a:prstGeom prst="roundRect">
            <a:avLst>
              <a:gd name="adj" fmla="val 5634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281" y="2680425"/>
            <a:ext cx="237484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5B657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IN-NETWORK GRAPH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281" y="2945229"/>
            <a:ext cx="223514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150 Posts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281" y="3292157"/>
            <a:ext cx="2374841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Follow graph random walks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28914" y="2533452"/>
            <a:ext cx="2514537" cy="1352352"/>
          </a:xfrm>
          <a:prstGeom prst="roundRect">
            <a:avLst>
              <a:gd name="adj" fmla="val 5634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8611" y="2680425"/>
            <a:ext cx="237484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4C3BC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IALS FACTORS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8611" y="2945229"/>
            <a:ext cx="223514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100 Posts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68611" y="3292157"/>
            <a:ext cx="2235144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Matrix factorization retrieval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48244" y="2533452"/>
            <a:ext cx="2514537" cy="1352352"/>
          </a:xfrm>
          <a:prstGeom prst="roundRect">
            <a:avLst>
              <a:gd name="adj" fmla="val 5634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7940" y="2680425"/>
            <a:ext cx="237484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5B657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NEURAL CF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87940" y="2945229"/>
            <a:ext cx="223514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100 Posts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87940" y="3292157"/>
            <a:ext cx="2235144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Non-linear collaborative embeddings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067573" y="2533452"/>
            <a:ext cx="2514537" cy="1352352"/>
          </a:xfrm>
          <a:prstGeom prst="roundRect">
            <a:avLst>
              <a:gd name="adj" fmla="val 5634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07270" y="2680425"/>
            <a:ext cx="237484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5B657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CONTENT TF-IDF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07270" y="2945229"/>
            <a:ext cx="223514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50 Posts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207270" y="3292157"/>
            <a:ext cx="2235144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Topic and hashtag matching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585" y="4070877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HYDRATED 12-DIMENSIONAL FEATURE VECTOR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9585" y="4411563"/>
            <a:ext cx="2213019" cy="336649"/>
          </a:xfrm>
          <a:prstGeom prst="roundRect">
            <a:avLst>
              <a:gd name="adj" fmla="val 6790"/>
            </a:avLst>
          </a:prstGeom>
          <a:noFill/>
          <a:ln w="6350">
            <a:solidFill>
              <a:srgbClr val="4C3B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9062" y="4491113"/>
            <a:ext cx="256364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100" dirty="0">
                <a:solidFill>
                  <a:srgbClr val="4C3BC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AUTHOR POPULARITY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930551" y="4411563"/>
            <a:ext cx="2647487" cy="336649"/>
          </a:xfrm>
          <a:prstGeom prst="roundRect">
            <a:avLst>
              <a:gd name="adj" fmla="val 6790"/>
            </a:avLst>
          </a:prstGeom>
          <a:noFill/>
          <a:ln w="6350">
            <a:solidFill>
              <a:srgbClr val="4C3B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0028" y="4491113"/>
            <a:ext cx="2998117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100" dirty="0">
                <a:solidFill>
                  <a:srgbClr val="4C3BC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FOLLOW GRAPH DISTANCE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685985" y="4411563"/>
            <a:ext cx="1750969" cy="336649"/>
          </a:xfrm>
          <a:prstGeom prst="roundRect">
            <a:avLst>
              <a:gd name="adj" fmla="val 6790"/>
            </a:avLst>
          </a:prstGeom>
          <a:noFill/>
          <a:ln w="6350">
            <a:solidFill>
              <a:srgbClr val="4C3B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15462" y="4491113"/>
            <a:ext cx="2101599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100" dirty="0">
                <a:solidFill>
                  <a:srgbClr val="4C3BC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TAG ALIGNMENT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544901" y="4411563"/>
            <a:ext cx="2492114" cy="336649"/>
          </a:xfrm>
          <a:prstGeom prst="roundRect">
            <a:avLst>
              <a:gd name="adj" fmla="val 6790"/>
            </a:avLst>
          </a:prstGeom>
          <a:solidFill>
            <a:srgbClr val="197A46"/>
          </a:solidFill>
          <a:ln/>
        </p:spPr>
      </p:sp>
      <p:sp>
        <p:nvSpPr>
          <p:cNvPr id="29" name="Text 27"/>
          <p:cNvSpPr/>
          <p:nvPr/>
        </p:nvSpPr>
        <p:spPr>
          <a:xfrm>
            <a:off x="7674378" y="4491113"/>
            <a:ext cx="2842745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1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IALS PREFERENCE SCORE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09585" y="4856163"/>
            <a:ext cx="2011312" cy="336649"/>
          </a:xfrm>
          <a:prstGeom prst="roundRect">
            <a:avLst>
              <a:gd name="adj" fmla="val 6790"/>
            </a:avLst>
          </a:prstGeom>
          <a:noFill/>
          <a:ln w="6350">
            <a:solidFill>
              <a:srgbClr val="4C3BC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9062" y="4935712"/>
            <a:ext cx="2361942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100" dirty="0">
                <a:solidFill>
                  <a:srgbClr val="4C3BC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 RECENCY (ΔT)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2728844" y="4856163"/>
            <a:ext cx="2368193" cy="336649"/>
          </a:xfrm>
          <a:prstGeom prst="roundRect">
            <a:avLst>
              <a:gd name="adj" fmla="val 6790"/>
            </a:avLst>
          </a:prstGeom>
          <a:noFill/>
          <a:ln w="6350">
            <a:solidFill>
              <a:srgbClr val="4C3B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58321" y="4935712"/>
            <a:ext cx="2718823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82" kern="100" dirty="0">
                <a:solidFill>
                  <a:srgbClr val="4C3BC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INTERACTION AFFINITY</a:t>
            </a:r>
            <a:endParaRPr lang="en-US" sz="13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72438" y="6481465"/>
            <a:ext cx="233317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REPORT · REV A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1584789" y="6481465"/>
            <a:ext cx="606906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/ 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4474"/>
            <a:ext cx="650223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IMPLICIT FEEDBACK FORMULATION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745111"/>
            <a:ext cx="6197445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00" b="1" spc="-25" kern="100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Learning from likes and skips: a like counts 41x more than silence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9585" y="1601133"/>
            <a:ext cx="6197445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Over 99% of feedback is implicit. Unseen posts represent missing data rather than negative sentiment, while quick skips indicate disinterest.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654796"/>
            <a:ext cx="6197445" cy="3716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108305"/>
            <a:ext cx="6197445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Meaning: a post the student engaged with gets a much larger weight than an unseen post (weight 1).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9585" y="3747324"/>
            <a:ext cx="154936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LIKE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9585" y="4036259"/>
            <a:ext cx="154936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4C3BC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+1.0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387540" y="3747324"/>
            <a:ext cx="132076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REPLY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387540" y="4036259"/>
            <a:ext cx="13207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4C3BC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+2.0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936902" y="3747324"/>
            <a:ext cx="132076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BOOKMARK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36902" y="4036259"/>
            <a:ext cx="13207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4C3BC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+1.5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486263" y="3747324"/>
            <a:ext cx="132076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SKIP (&lt;1.5S)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263" y="4036259"/>
            <a:ext cx="13207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C23A2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−0.5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111822" y="0"/>
            <a:ext cx="5079873" cy="6858000"/>
          </a:xfrm>
          <a:prstGeom prst="rect">
            <a:avLst/>
          </a:prstGeom>
          <a:noFill/>
          <a:ln w="6350">
            <a:solidFill>
              <a:srgbClr val="C2CCD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1367" y="209550"/>
            <a:ext cx="4660783" cy="64389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152596" y="3740051"/>
            <a:ext cx="12700" cy="59303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18" name="Shape 14"/>
          <p:cNvSpPr/>
          <p:nvPr/>
        </p:nvSpPr>
        <p:spPr>
          <a:xfrm>
            <a:off x="3701957" y="3740051"/>
            <a:ext cx="12700" cy="59303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19" name="Shape 15"/>
          <p:cNvSpPr/>
          <p:nvPr/>
        </p:nvSpPr>
        <p:spPr>
          <a:xfrm>
            <a:off x="5251319" y="3740051"/>
            <a:ext cx="12700" cy="593030"/>
          </a:xfrm>
          <a:prstGeom prst="rect">
            <a:avLst/>
          </a:prstGeom>
          <a:solidFill>
            <a:srgbClr val="C2CCD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2438" y="6481465"/>
            <a:ext cx="233317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REPORT · REV A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1584789" y="6481465"/>
            <a:ext cx="606906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/ 10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874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SIMILARITY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7511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00" b="1" spc="-25" kern="100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Three ways to measure "similar", each used where it fits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09585" y="3160514"/>
            <a:ext cx="3454314" cy="2935486"/>
          </a:xfrm>
          <a:prstGeom prst="roundRect">
            <a:avLst>
              <a:gd name="adj" fmla="val 2596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4681" y="3332888"/>
            <a:ext cx="328921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5B657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POST CONTENT SIMILARITY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4681" y="3597692"/>
            <a:ext cx="312412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Cosine Similarity</a:t>
            </a:r>
            <a:endParaRPr lang="en-US" sz="14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681" y="3910409"/>
            <a:ext cx="3124122" cy="6046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4681" y="4596884"/>
            <a:ext cx="3124122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Meaning: compares topic vectors of two posts by angle, regardless of length.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68691" y="3160514"/>
            <a:ext cx="3454314" cy="2935486"/>
          </a:xfrm>
          <a:prstGeom prst="roundRect">
            <a:avLst>
              <a:gd name="adj" fmla="val 2596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33787" y="3332888"/>
            <a:ext cx="328921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5B657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STUDENT-TO-STUDENT (K = 20)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33787" y="3597692"/>
            <a:ext cx="312412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Pearson Correlation</a:t>
            </a:r>
            <a:endParaRPr lang="en-US" sz="14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787" y="3910409"/>
            <a:ext cx="3124122" cy="11231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3787" y="5115401"/>
            <a:ext cx="3124122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Meaning: how similarly two students rate posts after removing each one's average.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27797" y="3160514"/>
            <a:ext cx="3454314" cy="2935486"/>
          </a:xfrm>
          <a:prstGeom prst="roundRect">
            <a:avLst>
              <a:gd name="adj" fmla="val 2596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92893" y="3332888"/>
            <a:ext cx="328921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4C3BC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LATENT TASTE EMBEDDINGS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292893" y="3597692"/>
            <a:ext cx="312412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Implicit ALS (iALS)</a:t>
            </a:r>
            <a:endParaRPr lang="en-US" sz="14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893" y="3910409"/>
            <a:ext cx="3124122" cy="125333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92893" y="5245576"/>
            <a:ext cx="3124122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Meaning: iALS treats each observed interaction as a 1 and every missing post as a 0.</a:t>
            </a:r>
            <a:endParaRPr lang="en-US" sz="13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2438" y="6481465"/>
            <a:ext cx="233317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REPORT · REV A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1584789" y="6481465"/>
            <a:ext cx="606906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 / 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874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COLD-START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7511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00" b="1" spc="-25" kern="100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New students take a different route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09585" y="1731367"/>
            <a:ext cx="2560177" cy="3254970"/>
          </a:xfrm>
          <a:prstGeom prst="roundRect">
            <a:avLst>
              <a:gd name="adj" fmla="val 2976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281" y="2945339"/>
            <a:ext cx="242048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5B657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281" y="3210143"/>
            <a:ext cx="228078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New Request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281" y="3557072"/>
            <a:ext cx="242048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Student session starts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69761" y="3274646"/>
            <a:ext cx="548666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18427" y="1731367"/>
            <a:ext cx="2925987" cy="3254970"/>
          </a:xfrm>
          <a:prstGeom prst="roundRect">
            <a:avLst>
              <a:gd name="adj" fmla="val 2604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8124" y="2945339"/>
            <a:ext cx="278629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5B657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DECISION GATE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58124" y="3210143"/>
            <a:ext cx="264659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3 or more interactions?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858124" y="3557072"/>
            <a:ext cx="278629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Threshold for collaborative fit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44414" y="3274646"/>
            <a:ext cx="73152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YES / NO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75936" y="1959967"/>
            <a:ext cx="1950691" cy="2458442"/>
          </a:xfrm>
          <a:prstGeom prst="roundRect">
            <a:avLst>
              <a:gd name="adj" fmla="val 3906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0233" y="2081541"/>
            <a:ext cx="183639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4C3BC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WARM PATH (YES)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0233" y="2346345"/>
            <a:ext cx="1722097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iALS collaborative path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90233" y="2914233"/>
            <a:ext cx="1722097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Personalized latent factor matching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631419" y="1959967"/>
            <a:ext cx="1950691" cy="2458442"/>
          </a:xfrm>
          <a:prstGeom prst="roundRect">
            <a:avLst>
              <a:gd name="adj" fmla="val 3906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45716" y="2081541"/>
            <a:ext cx="183639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5B657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COLD PATH (NO)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745716" y="2346345"/>
            <a:ext cx="1722097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Content path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745716" y="2693273"/>
            <a:ext cx="1722097" cy="1619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TF-IDF over post text, departments and hashtags like #cs and #hackathon; student profile = average of posts they liked.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75936" y="4535170"/>
            <a:ext cx="4206174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 paths → ranker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09585" y="5510243"/>
            <a:ext cx="365750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BASELINE COLD NDCG@10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585" y="5799177"/>
            <a:ext cx="365750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A313A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0.0109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495688" y="5510243"/>
            <a:ext cx="342891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TAG-BOOSTED COLD NDCG@10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95688" y="5799177"/>
            <a:ext cx="342891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4C3BC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0.6719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153196" y="5510243"/>
            <a:ext cx="342891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RELATIVE IMPROVEMENT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53196" y="5799177"/>
            <a:ext cx="342891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197A4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+61.6x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260743" y="5502970"/>
            <a:ext cx="12700" cy="59303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30" name="Shape 28"/>
          <p:cNvSpPr/>
          <p:nvPr/>
        </p:nvSpPr>
        <p:spPr>
          <a:xfrm>
            <a:off x="7918252" y="5502970"/>
            <a:ext cx="12700" cy="593030"/>
          </a:xfrm>
          <a:prstGeom prst="rect">
            <a:avLst/>
          </a:prstGeom>
          <a:solidFill>
            <a:srgbClr val="C2CCD5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72438" y="6481465"/>
            <a:ext cx="233317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REPORT · REV A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1584789" y="6481465"/>
            <a:ext cx="606906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 / 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4474"/>
            <a:ext cx="670543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SCORING &amp; RANKING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745111"/>
            <a:ext cx="640064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00" b="1" spc="-25" kern="100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The ranker predicts three behaviours, then scores the post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9585" y="1604546"/>
            <a:ext cx="6400640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12-number vector → P(Like), P(Reply), P(Skip) → weighted utility → recency decay → score.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23591"/>
            <a:ext cx="6400640" cy="74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3048774"/>
            <a:ext cx="6400640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Meaning: weighted expected engagement, discounted as the post ages (Δt in hours).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9585" y="3636993"/>
            <a:ext cx="1904952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P(LIKE) / P(REPLY) / P(SKIP)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9585" y="4108787"/>
            <a:ext cx="213354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40% · 16% · 60%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971726" y="3636993"/>
            <a:ext cx="1676358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RAW SCORE · 15H DECAY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971726" y="4108787"/>
            <a:ext cx="1676358" cy="606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0.192 · </a:t>
            </a:r>
            <a:pPr algn="l" indent="0" marL="0">
              <a:lnSpc>
                <a:spcPct val="117000"/>
              </a:lnSpc>
              <a:buNone/>
            </a:pPr>
            <a:r>
              <a:rPr lang="en-US" sz="1600" i="1" dirty="0">
                <a:solidFill>
                  <a:srgbClr val="2A31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</a:t>
            </a:r>
            <a:endParaRPr lang="en-US" sz="17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726" y="4443710"/>
            <a:ext cx="1353608" cy="26580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05272" y="3636993"/>
            <a:ext cx="190495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RECORDED SCORE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105272" y="3925927"/>
            <a:ext cx="190495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4C3BC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0.1367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09585" y="4845328"/>
            <a:ext cx="6400640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 breakdown: Social affinity 43.1% · iALS match 34.5% · Topic alignment 8.6%.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noFill/>
          <a:ln w="6350">
            <a:solidFill>
              <a:srgbClr val="C2CCD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562" y="209550"/>
            <a:ext cx="4457588" cy="64389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736782" y="3629720"/>
            <a:ext cx="12700" cy="1079798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18" name="Shape 13"/>
          <p:cNvSpPr/>
          <p:nvPr/>
        </p:nvSpPr>
        <p:spPr>
          <a:xfrm>
            <a:off x="4870328" y="3629720"/>
            <a:ext cx="12700" cy="1079798"/>
          </a:xfrm>
          <a:prstGeom prst="rect">
            <a:avLst/>
          </a:prstGeom>
          <a:solidFill>
            <a:srgbClr val="C2CCD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2438" y="6481465"/>
            <a:ext cx="233317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REPORT · REV A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1584789" y="6481465"/>
            <a:ext cx="606906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 / 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874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DIVERSITY &amp; FAIRNESS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7511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00" b="1" spc="-25" kern="100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MMR keeps the feed from becoming ten posts about midterms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9585" y="1407696"/>
            <a:ext cx="1158211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Maximal Marginal Relevance balances greedy utility ranking against topic saturation and author clustering.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867495"/>
            <a:ext cx="10972526" cy="3716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2321004"/>
            <a:ext cx="1158211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Meaning: pick posts that are relevant but not too similar to ones already chosen (x = candidate, y = selected post).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09585" y="2780804"/>
            <a:ext cx="3454314" cy="1352352"/>
          </a:xfrm>
          <a:prstGeom prst="roundRect">
            <a:avLst>
              <a:gd name="adj" fmla="val 5634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281" y="2927778"/>
            <a:ext cx="331461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5B657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1. SORT CANDIDATES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281" y="3192582"/>
            <a:ext cx="3174921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Rank by Raw Score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49281" y="3539510"/>
            <a:ext cx="3174921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High-utility candidates sorted descending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68691" y="2780804"/>
            <a:ext cx="3454314" cy="1352352"/>
          </a:xfrm>
          <a:prstGeom prst="roundRect">
            <a:avLst>
              <a:gd name="adj" fmla="val 5634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8387" y="2927778"/>
            <a:ext cx="331461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4C3BC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2. PENALIZE SIMILARITY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08387" y="3192582"/>
            <a:ext cx="3174921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Subtract Cosine Overlap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08387" y="3539510"/>
            <a:ext cx="3174921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Discount posts resembling already-selected items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127797" y="2780804"/>
            <a:ext cx="3454314" cy="1352352"/>
          </a:xfrm>
          <a:prstGeom prst="roundRect">
            <a:avLst>
              <a:gd name="adj" fmla="val 5634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67493" y="2927778"/>
            <a:ext cx="331461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5B657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3. AUTHOR CAP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67493" y="3192582"/>
            <a:ext cx="3174921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Max 2 Posts / Author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267493" y="3539510"/>
            <a:ext cx="3314617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Prevents power-users from dominating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09585" y="4370388"/>
            <a:ext cx="5257668" cy="38100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20" name="Text 17"/>
          <p:cNvSpPr/>
          <p:nvPr/>
        </p:nvSpPr>
        <p:spPr>
          <a:xfrm>
            <a:off x="838179" y="4644361"/>
            <a:ext cx="502907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FEED DIVERSITY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38179" y="4972348"/>
            <a:ext cx="480048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88" kern="100" dirty="0">
                <a:solidFill>
                  <a:srgbClr val="1A1F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0.915 → </a:t>
            </a:r>
            <a:pPr algn="l" indent="0" marL="0">
              <a:lnSpc>
                <a:spcPct val="83000"/>
              </a:lnSpc>
              <a:buNone/>
            </a:pPr>
            <a:r>
              <a:rPr lang="en-US" sz="4400" spc="-88" kern="100" dirty="0">
                <a:solidFill>
                  <a:srgbClr val="4C3BC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0.962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838179" y="5644733"/>
            <a:ext cx="5029074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+5.1% intra-list variety gain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324442" y="4370388"/>
            <a:ext cx="5257668" cy="38100"/>
          </a:xfrm>
          <a:prstGeom prst="rect">
            <a:avLst/>
          </a:prstGeom>
          <a:solidFill>
            <a:srgbClr val="1A1F26"/>
          </a:solidFill>
          <a:ln/>
        </p:spPr>
      </p:sp>
      <p:sp>
        <p:nvSpPr>
          <p:cNvPr id="24" name="Text 21"/>
          <p:cNvSpPr/>
          <p:nvPr/>
        </p:nvSpPr>
        <p:spPr>
          <a:xfrm>
            <a:off x="6553036" y="4644361"/>
            <a:ext cx="502907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PRECISION@10 IMPACT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553036" y="4972348"/>
            <a:ext cx="480048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88" kern="100" dirty="0">
                <a:solidFill>
                  <a:srgbClr val="197A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0.0%</a:t>
            </a:r>
            <a:endParaRPr lang="en-US" sz="4400" dirty="0"/>
          </a:p>
        </p:txBody>
      </p:sp>
      <p:sp>
        <p:nvSpPr>
          <p:cNvPr id="26" name="Text 23"/>
          <p:cNvSpPr/>
          <p:nvPr/>
        </p:nvSpPr>
        <p:spPr>
          <a:xfrm>
            <a:off x="6553036" y="5644733"/>
            <a:ext cx="5029074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Zero degradation in top-10 relevance</a:t>
            </a:r>
            <a:endParaRPr lang="en-US" sz="135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72438" y="6481465"/>
            <a:ext cx="233317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REPORT · REV A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584789" y="6481465"/>
            <a:ext cx="606906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 / 10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874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EVALUATION 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97511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500" b="1" spc="-25" kern="100" dirty="0">
                <a:solidFill>
                  <a:srgbClr val="1A1F26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The hybrid beats every single model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9585" y="1406159"/>
            <a:ext cx="665969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OFFLINE ACCURACY: NDCG@10 (80/20 TEMPORAL SPLIT)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689695"/>
            <a:ext cx="6349841" cy="29223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693920"/>
            <a:ext cx="6659694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Evaluated across 8 baseline configurations on an 80/20 time-based split. Security includes Jaccard botnet graph filtering.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26368" y="1406159"/>
            <a:ext cx="385574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96" kern="10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PRODUCTION METRICS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368" y="1689695"/>
          <a:ext cx="3855743" cy="914400"/>
        </p:xfrm>
        <a:graphic>
          <a:graphicData uri="http://schemas.openxmlformats.org/drawingml/2006/table">
            <a:tbl>
              <a:tblPr/>
              <a:tblGrid>
                <a:gridCol w="2232168"/>
                <a:gridCol w="1299634"/>
                <a:gridCol w="323941"/>
              </a:tblGrid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A313A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Precision@10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A313A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0.0120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A313A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Recall@10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A313A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0.0156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A313A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Catalog Coverage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A313A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10.0%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A313A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Feed Diversity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4C3BC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0.9599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F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726368" y="5410676"/>
            <a:ext cx="3855743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references: X Corp. (2023) </a:t>
            </a:r>
            <a:pPr algn="l" indent="0" marL="0">
              <a:lnSpc>
                <a:spcPct val="113000"/>
              </a:lnSpc>
              <a:buNone/>
            </a:pPr>
            <a:r>
              <a:rPr lang="en-US" sz="1350" i="1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Algorithm</a:t>
            </a:r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; Sarwar et al. (2001) </a:t>
            </a:r>
            <a:pPr algn="l" indent="0" marL="0">
              <a:lnSpc>
                <a:spcPct val="113000"/>
              </a:lnSpc>
              <a:buNone/>
            </a:pPr>
            <a:r>
              <a:rPr lang="en-US" sz="1350" i="1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Item-Based CF</a:t>
            </a:r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; Mobasher et al. (2007) </a:t>
            </a:r>
            <a:pPr algn="l" indent="0" marL="0">
              <a:lnSpc>
                <a:spcPct val="113000"/>
              </a:lnSpc>
              <a:buNone/>
            </a:pPr>
            <a:r>
              <a:rPr lang="en-US" sz="1350" i="1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Shilling Attacks</a:t>
            </a:r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350000"/>
            <a:ext cx="10972526" cy="63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2438" y="6481465"/>
            <a:ext cx="233317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REPORT · REV A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11584789" y="6481465"/>
            <a:ext cx="606906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spc="57" kern="100" dirty="0">
                <a:solidFill>
                  <a:srgbClr val="2A31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2026-10-13T15:33:07Z</dcterms:created>
  <dcterms:modified xsi:type="dcterms:W3CDTF">2026-10-13T15:33:07Z</dcterms:modified>
</cp:coreProperties>
</file>